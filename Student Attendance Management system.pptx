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325" r:id="rId3"/>
    <p:sldId id="326" r:id="rId4"/>
    <p:sldId id="336" r:id="rId5"/>
    <p:sldId id="327" r:id="rId6"/>
    <p:sldId id="337" r:id="rId7"/>
    <p:sldId id="328" r:id="rId8"/>
    <p:sldId id="345" r:id="rId9"/>
    <p:sldId id="338" r:id="rId10"/>
    <p:sldId id="339" r:id="rId11"/>
    <p:sldId id="340" r:id="rId12"/>
    <p:sldId id="341" r:id="rId13"/>
    <p:sldId id="342" r:id="rId14"/>
    <p:sldId id="334" r:id="rId15"/>
    <p:sldId id="343" r:id="rId16"/>
    <p:sldId id="344" r:id="rId17"/>
    <p:sldId id="324" r:id="rId18"/>
  </p:sldIdLst>
  <p:sldSz cx="12192000" cy="6858000"/>
  <p:notesSz cx="6858000" cy="12192000"/>
  <p:embeddedFontLst>
    <p:embeddedFont>
      <p:font typeface="Arial Rounded MT Bold" panose="020F0704030504030204" pitchFamily="34" charset="0"/>
      <p:regular r:id="rId20"/>
    </p:embeddedFont>
    <p:embeddedFont>
      <p:font typeface="Californian FB" panose="0207040306080B030204" pitchFamily="18" charset="0"/>
      <p:regular r:id="rId21"/>
      <p:bold r:id="rId22"/>
      <p:italic r:id="rId23"/>
    </p:embeddedFont>
    <p:embeddedFont>
      <p:font typeface="Centaur" panose="02030504050205020304" pitchFamily="18" charset="0"/>
      <p:regular r:id="rId24"/>
    </p:embeddedFont>
    <p:embeddedFont>
      <p:font typeface="Maiandra GD" panose="020E0502030308020204" pitchFamily="34" charset="0"/>
      <p:regular r:id="rId25"/>
    </p:embeddedFont>
  </p:embeddedFont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61D713-6F4B-4F96-ACDD-8B88BEA518A8}" v="29" dt="2026-09-28T15:27:25.310"/>
  </p1510:revLst>
</p1510:revInfo>
</file>

<file path=ppt/tableStyles.xml><?xml version="1.0" encoding="utf-8"?>
<a:tblStyleLst xmlns:a="http://schemas.openxmlformats.org/drawingml/2006/main" def="{5C22544A-7EE6-4342-B048-85BDC9FD1C3A}">
  <a:tblStyle styleId="{42F484E2-D13C-4198-809A-BEC5E46278DC}" styleName="Style 3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accent1"/>
              </a:solidFill>
            </a:ln>
          </a:left>
          <a:right>
            <a:ln w="12700">
              <a:solidFill>
                <a:schemeClr val="accent1"/>
              </a:solidFill>
            </a:ln>
          </a:right>
          <a:top>
            <a:ln w="12700">
              <a:solidFill>
                <a:schemeClr val="accent1"/>
              </a:solidFill>
            </a:ln>
          </a:top>
          <a:bottom>
            <a:ln w="12700">
              <a:solidFill>
                <a:schemeClr val="accent1"/>
              </a:solidFill>
            </a:ln>
          </a:bottom>
          <a:insideH>
            <a:ln w="12700">
              <a:solidFill>
                <a:schemeClr val="accent1"/>
              </a:solidFill>
            </a:ln>
          </a:insideH>
          <a:insideV>
            <a:ln w="12700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19999"/>
            </a:schemeClr>
          </a:solidFill>
        </a:fill>
      </a:tcStyle>
    </a:band1H>
    <a:band1V>
      <a:tcStyle>
        <a:tcBdr/>
        <a:fill>
          <a:solidFill>
            <a:schemeClr val="accent1">
              <a:alpha val="19999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86405" autoAdjust="0"/>
  </p:normalViewPr>
  <p:slideViewPr>
    <p:cSldViewPr>
      <p:cViewPr varScale="1">
        <p:scale>
          <a:sx n="88" d="100"/>
          <a:sy n="88" d="100"/>
        </p:scale>
        <p:origin x="691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davathu mahesh" userId="dace3648383a898a" providerId="LiveId" clId="{B0C9FF67-CCCE-4663-8D0E-2C880F2DD5AA}"/>
    <pc:docChg chg="undo custSel modSld">
      <pc:chgData name="mudavathu mahesh" userId="dace3648383a898a" providerId="LiveId" clId="{B0C9FF67-CCCE-4663-8D0E-2C880F2DD5AA}" dt="2026-09-28T15:39:02.896" v="222" actId="1036"/>
      <pc:docMkLst>
        <pc:docMk/>
      </pc:docMkLst>
      <pc:sldChg chg="modSp mod">
        <pc:chgData name="mudavathu mahesh" userId="dace3648383a898a" providerId="LiveId" clId="{B0C9FF67-CCCE-4663-8D0E-2C880F2DD5AA}" dt="2026-09-28T12:23:51.413" v="138" actId="20577"/>
        <pc:sldMkLst>
          <pc:docMk/>
          <pc:sldMk cId="0" sldId="256"/>
        </pc:sldMkLst>
        <pc:graphicFrameChg chg="modGraphic">
          <ac:chgData name="mudavathu mahesh" userId="dace3648383a898a" providerId="LiveId" clId="{B0C9FF67-CCCE-4663-8D0E-2C880F2DD5AA}" dt="2026-09-28T12:23:51.413" v="138" actId="20577"/>
          <ac:graphicFrameMkLst>
            <pc:docMk/>
            <pc:sldMk cId="0" sldId="256"/>
            <ac:graphicFrameMk id="6" creationId="{C7F159A1-205A-9A84-5F29-BAC09BFFE55A}"/>
          </ac:graphicFrameMkLst>
        </pc:graphicFrameChg>
      </pc:sldChg>
      <pc:sldChg chg="addSp delSp modSp mod">
        <pc:chgData name="mudavathu mahesh" userId="dace3648383a898a" providerId="LiveId" clId="{B0C9FF67-CCCE-4663-8D0E-2C880F2DD5AA}" dt="2026-09-28T15:27:33.392" v="221" actId="20577"/>
        <pc:sldMkLst>
          <pc:docMk/>
          <pc:sldMk cId="1780977059" sldId="328"/>
        </pc:sldMkLst>
        <pc:spChg chg="mod">
          <ac:chgData name="mudavathu mahesh" userId="dace3648383a898a" providerId="LiveId" clId="{B0C9FF67-CCCE-4663-8D0E-2C880F2DD5AA}" dt="2026-09-28T15:27:33.392" v="221" actId="20577"/>
          <ac:spMkLst>
            <pc:docMk/>
            <pc:sldMk cId="1780977059" sldId="328"/>
            <ac:spMk id="2" creationId="{CCBC3698-B926-FCD8-3E34-A0BCA597160E}"/>
          </ac:spMkLst>
        </pc:spChg>
        <pc:spChg chg="add del mod">
          <ac:chgData name="mudavathu mahesh" userId="dace3648383a898a" providerId="LiveId" clId="{B0C9FF67-CCCE-4663-8D0E-2C880F2DD5AA}" dt="2026-09-28T12:05:30.351" v="17"/>
          <ac:spMkLst>
            <pc:docMk/>
            <pc:sldMk cId="1780977059" sldId="328"/>
            <ac:spMk id="6" creationId="{29DCE8A5-E8F4-951B-7509-60876E23A2D2}"/>
          </ac:spMkLst>
        </pc:spChg>
        <pc:spChg chg="add del mod">
          <ac:chgData name="mudavathu mahesh" userId="dace3648383a898a" providerId="LiveId" clId="{B0C9FF67-CCCE-4663-8D0E-2C880F2DD5AA}" dt="2026-09-28T12:09:31.246" v="58" actId="478"/>
          <ac:spMkLst>
            <pc:docMk/>
            <pc:sldMk cId="1780977059" sldId="328"/>
            <ac:spMk id="9" creationId="{F231D39F-5825-1158-E944-3C9A12EBE33E}"/>
          </ac:spMkLst>
        </pc:spChg>
        <pc:spChg chg="add del mod">
          <ac:chgData name="mudavathu mahesh" userId="dace3648383a898a" providerId="LiveId" clId="{B0C9FF67-CCCE-4663-8D0E-2C880F2DD5AA}" dt="2026-09-28T12:10:59.078" v="73"/>
          <ac:spMkLst>
            <pc:docMk/>
            <pc:sldMk cId="1780977059" sldId="328"/>
            <ac:spMk id="10" creationId="{F691D6D7-5955-BD52-3A82-21AFC0E514BD}"/>
          </ac:spMkLst>
        </pc:spChg>
        <pc:spChg chg="add mod">
          <ac:chgData name="mudavathu mahesh" userId="dace3648383a898a" providerId="LiveId" clId="{B0C9FF67-CCCE-4663-8D0E-2C880F2DD5AA}" dt="2026-09-28T12:10:59.319" v="74" actId="767"/>
          <ac:spMkLst>
            <pc:docMk/>
            <pc:sldMk cId="1780977059" sldId="328"/>
            <ac:spMk id="11" creationId="{70C385F6-6029-68FD-6896-CE7BA31133E3}"/>
          </ac:spMkLst>
        </pc:spChg>
      </pc:sldChg>
      <pc:sldChg chg="modSp mod">
        <pc:chgData name="mudavathu mahesh" userId="dace3648383a898a" providerId="LiveId" clId="{B0C9FF67-CCCE-4663-8D0E-2C880F2DD5AA}" dt="2026-09-28T14:14:06.631" v="140" actId="1036"/>
        <pc:sldMkLst>
          <pc:docMk/>
          <pc:sldMk cId="4218907076" sldId="336"/>
        </pc:sldMkLst>
        <pc:spChg chg="mod">
          <ac:chgData name="mudavathu mahesh" userId="dace3648383a898a" providerId="LiveId" clId="{B0C9FF67-CCCE-4663-8D0E-2C880F2DD5AA}" dt="2026-09-28T14:14:06.631" v="140" actId="1036"/>
          <ac:spMkLst>
            <pc:docMk/>
            <pc:sldMk cId="4218907076" sldId="336"/>
            <ac:spMk id="2" creationId="{F04DC9FC-FE4B-6406-0EEA-8EC8398706E6}"/>
          </ac:spMkLst>
        </pc:spChg>
      </pc:sldChg>
      <pc:sldChg chg="modSp mod">
        <pc:chgData name="mudavathu mahesh" userId="dace3648383a898a" providerId="LiveId" clId="{B0C9FF67-CCCE-4663-8D0E-2C880F2DD5AA}" dt="2026-09-28T12:27:20.606" v="139" actId="14100"/>
        <pc:sldMkLst>
          <pc:docMk/>
          <pc:sldMk cId="2610347258" sldId="340"/>
        </pc:sldMkLst>
        <pc:spChg chg="mod">
          <ac:chgData name="mudavathu mahesh" userId="dace3648383a898a" providerId="LiveId" clId="{B0C9FF67-CCCE-4663-8D0E-2C880F2DD5AA}" dt="2026-09-28T12:27:20.606" v="139" actId="14100"/>
          <ac:spMkLst>
            <pc:docMk/>
            <pc:sldMk cId="2610347258" sldId="340"/>
            <ac:spMk id="2" creationId="{86538CC1-5D42-1028-6717-5E49AC8A64D1}"/>
          </ac:spMkLst>
        </pc:spChg>
      </pc:sldChg>
      <pc:sldChg chg="modSp mod">
        <pc:chgData name="mudavathu mahesh" userId="dace3648383a898a" providerId="LiveId" clId="{B0C9FF67-CCCE-4663-8D0E-2C880F2DD5AA}" dt="2026-09-28T15:39:02.896" v="222" actId="1036"/>
        <pc:sldMkLst>
          <pc:docMk/>
          <pc:sldMk cId="3595854311" sldId="342"/>
        </pc:sldMkLst>
        <pc:picChg chg="mod">
          <ac:chgData name="mudavathu mahesh" userId="dace3648383a898a" providerId="LiveId" clId="{B0C9FF67-CCCE-4663-8D0E-2C880F2DD5AA}" dt="2026-09-28T15:39:02.896" v="222" actId="1036"/>
          <ac:picMkLst>
            <pc:docMk/>
            <pc:sldMk cId="3595854311" sldId="342"/>
            <ac:picMk id="8" creationId="{B74929A7-84A7-82EE-0B0E-42F9AEC2640F}"/>
          </ac:picMkLst>
        </pc:picChg>
      </pc:sldChg>
      <pc:sldChg chg="modSp mod">
        <pc:chgData name="mudavathu mahesh" userId="dace3648383a898a" providerId="LiveId" clId="{B0C9FF67-CCCE-4663-8D0E-2C880F2DD5AA}" dt="2026-09-28T12:18:07.908" v="124" actId="1076"/>
        <pc:sldMkLst>
          <pc:docMk/>
          <pc:sldMk cId="2223766898" sldId="345"/>
        </pc:sldMkLst>
        <pc:spChg chg="mod">
          <ac:chgData name="mudavathu mahesh" userId="dace3648383a898a" providerId="LiveId" clId="{B0C9FF67-CCCE-4663-8D0E-2C880F2DD5AA}" dt="2026-09-28T12:18:07.908" v="124" actId="1076"/>
          <ac:spMkLst>
            <pc:docMk/>
            <pc:sldMk cId="2223766898" sldId="345"/>
            <ac:spMk id="2" creationId="{A4DBCFCB-4C71-E674-4F7F-2E9CACE1C72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185095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947988" y="2032000"/>
            <a:ext cx="9753601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5763" y="7823200"/>
            <a:ext cx="3086100" cy="6400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85095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DCFA7E3-AF1E-4675-AD18-D5B679F37F4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4E6D2F1-D737-43DE-B4CE-C454EF7B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854199"/>
            <a:ext cx="9144000" cy="1655763"/>
          </a:xfrm>
        </p:spPr>
        <p:txBody>
          <a:bodyPr rtlCol="0" anchor="b"/>
          <a:lstStyle>
            <a:lvl1pPr lvl="0" algn="ctr">
              <a:defRPr lang="en-US"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32171CF1-2CD1-4848-A55A-5A508E25A32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04F51DF-EF08-4C97-A330-FD7D92F0E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lvl="0" indent="0" algn="ctr">
              <a:buNone/>
              <a:defRPr lang="en-US" sz="2400" dirty="0"/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>
            <a:extLst>
              <a:ext uri="{C1EB77FD-C848-422B-B273-451CDA41F43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1682ECF-C071-4F62-8564-87ABCCA31A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7608" y="592088"/>
            <a:ext cx="7609140" cy="1008112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C687AB22-C009-4796-A595-4B274F53E9E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9EC38CB-622C-4106-803A-85E3D547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6" name="Slide Number Placeholder 5">
            <a:extLst>
              <a:ext uri="{30F4214F-3E4E-4B8B-8AC2-BF59D50B2CD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25D679E-58E0-45F1-BEFC-163C6EEC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7" name="Date Placeholder 3">
            <a:extLst>
              <a:ext uri="{02364871-6258-47BB-A41D-1E9BEBD3EA9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E775BF1-9C64-4531-A7E2-730347FD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23B885CB-12B0-4AB7-A523-856A576656C9}" type="datetime1">
              <a:rPr lang="en-US" smtClean="0"/>
              <a:t>9/28/2026</a:t>
            </a:fld>
            <a:endParaRPr lang="en-US" dirty="0"/>
          </a:p>
        </p:txBody>
      </p:sp>
    </p:spTree>
    <p:extLst>
      <p:ext uri="{7D129387-9967-4C73-939D-69EF041DFD9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05269A97-DC81-49F9-B896-84CAB659C62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56F5785-025F-4915-96E3-0AFF7163BC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561876"/>
            <a:ext cx="10515600" cy="4531419"/>
          </a:xfrm>
        </p:spPr>
        <p:txBody>
          <a:bodyPr rtlCol="0"/>
          <a:lstStyle>
            <a:lvl1pPr marL="457200" lvl="0" indent="0">
              <a:buNone/>
            </a:lvl1pPr>
            <a:lvl2pPr marL="914400" lvl="1" indent="0">
              <a:buNone/>
            </a:lvl2pPr>
            <a:lvl3pPr marL="1371600" lvl="2" indent="0">
              <a:buNone/>
            </a:lvl3pPr>
            <a:lvl4pPr marL="1828800" lvl="3" indent="0">
              <a:buNone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>
            <a:extLst>
              <a:ext uri="{C7EE3D1E-6A2F-4B40-9445-6784FC740AC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4C561F3-3431-4CB3-94B3-3A3D9CDA63D8}"/>
              </a:ext>
            </a:extLst>
          </p:cNvPr>
          <p:cNvSpPr>
            <a:spLocks noGrp="1"/>
          </p:cNvSpPr>
          <p:nvPr>
            <p:ph type="dt" sz="half" idx="1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20F1802-9C65-458A-8FBF-F4B557FF234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E2B100E3-D1A2-4814-971B-1F28BC986BE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6403740-14DB-4D0C-AC81-1640F2592B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pic>
        <p:nvPicPr>
          <p:cNvPr id="5" name="Picture 2">
            <a:extLst>
              <a:ext uri="{DAD87817-DB1B-4DE8-BD41-41BB3E99A74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3518EA9-28E9-4397-BCB4-F5D7ABFF9E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6" name="Slide Number Placeholder 3">
            <a:extLst>
              <a:ext uri="{8B62DEED-5952-4478-9464-706CCDCB22D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265A311-D434-4806-B3C0-ED40E2B04A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9359D16F-76A5-41BA-ADDD-CBF352B33DDD}" type="slidenum">
              <a:t>‹#›</a:t>
            </a:fld>
            <a:endParaRPr lang="en-US" dirty="0"/>
          </a:p>
        </p:txBody>
      </p:sp>
    </p:spTree>
    <p:extLst>
      <p:ext uri="{E791D5F0-FCE4-45B8-828D-F7D7E855498A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2A124749-B5E7-4428-BF59-41C47B6A612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8CFA2DB-E1A9-463A-BC5A-35A8CCF529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E7A761B9-81CB-49B2-8BE6-983B6B07B3D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F471AC3-982D-4B96-9E59-D3B6F74D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E761D253-940C-44B0-8F51-8C8A37AEAF73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7A687B93-B742-4FC6-AC3F-36C63D4DF72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5844C2E-6153-4C88-A824-95DE18C3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3">
            <a:extLst>
              <a:ext uri="{A59E037D-D639-4F65-9477-94A0EBCDC4E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C0A76B5-951D-4394-8F2D-A4E34AC0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D9C5B093-D3DD-4808-813A-F58BF8E67773}" type="slidenum">
              <a:t>‹#›</a:t>
            </a:fld>
            <a:endParaRPr lang="en-US" dirty="0"/>
          </a:p>
        </p:txBody>
      </p:sp>
    </p:spTree>
    <p:extLst>
      <p:ext uri="{917857EF-1D39-4225-A829-037EB1D27937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48EA39CE-E158-4B2A-99CD-545B14A22D3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313CDBB-BA82-4DED-973B-07A500BC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76CEBE57-5AC2-4233-9D99-CAE469A4C85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438A3C5-0C27-48D9-9FD4-D71686301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5757E326-5F3E-43A1-830E-27FE2CE96B3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1FB99B2-34CB-4F0C-AABD-9CC4327C4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B5FF2-DAF6-4310-9A1D-797D39C1E342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>
            <a:extLst>
              <a:ext uri="{71906065-35B4-4935-A9D1-FD668DE1E59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7A5B885-A2DA-46BA-BC42-719D5CA3E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6" name="Slide Number Placeholder 5">
            <a:extLst>
              <a:ext uri="{35F2950A-B1CB-4727-AB58-367C2C82CEA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979ABAE-2F0E-462F-935B-AC49E1A2F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9481-3A84-418C-9FCC-1F8C2D158F80}" type="slidenum"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lvl="0" algn="l" rtl="0">
        <a:lnSpc>
          <a:spcPct val="90000"/>
        </a:lnSpc>
        <a:spcBef>
          <a:spcPct val="0"/>
        </a:spcBef>
        <a:buNone/>
        <a:defRPr lang="en-US" sz="4400" dirty="0">
          <a:solidFill>
            <a:schemeClr val="tx1"/>
          </a:solidFill>
          <a:latin typeface="+mj-lt"/>
        </a:defRPr>
      </a:lvl1pPr>
    </p:titleStyle>
    <p:bodyStyle>
      <a:lvl1pPr marL="228600" lvl="0" indent="-228600" algn="l" rtl="0">
        <a:lnSpc>
          <a:spcPct val="90000"/>
        </a:lnSpc>
        <a:spcBef>
          <a:spcPts val="1000"/>
        </a:spcBef>
        <a:buChar char="•"/>
        <a:defRPr lang="en-US" sz="2800" dirty="0">
          <a:solidFill>
            <a:schemeClr val="tx1"/>
          </a:solidFill>
          <a:latin typeface="+mn-lt"/>
        </a:defRPr>
      </a:lvl1pPr>
      <a:lvl2pPr marL="685800" lvl="1" indent="-228600" algn="l" rtl="0">
        <a:lnSpc>
          <a:spcPct val="90000"/>
        </a:lnSpc>
        <a:spcBef>
          <a:spcPts val="500"/>
        </a:spcBef>
        <a:buChar char="•"/>
        <a:defRPr lang="en-US" sz="2400" dirty="0">
          <a:solidFill>
            <a:schemeClr val="tx1"/>
          </a:solidFill>
          <a:latin typeface="+mn-lt"/>
        </a:defRPr>
      </a:lvl2pPr>
      <a:lvl3pPr marL="1143000" lvl="2" indent="-228600" algn="l" rtl="0">
        <a:lnSpc>
          <a:spcPct val="90000"/>
        </a:lnSpc>
        <a:spcBef>
          <a:spcPts val="500"/>
        </a:spcBef>
        <a:buChar char="•"/>
        <a:defRPr lang="en-US" sz="2000" dirty="0">
          <a:solidFill>
            <a:schemeClr val="tx1"/>
          </a:solidFill>
          <a:latin typeface="+mn-lt"/>
        </a:defRPr>
      </a:lvl3pPr>
      <a:lvl4pPr marL="1600200" lvl="3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4pPr>
      <a:lvl5pPr marL="2057400" lvl="4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5pPr>
      <a:lvl6pPr marL="2514600" lvl="5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6pPr>
      <a:lvl7pPr marL="2971800" lvl="6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7pPr>
      <a:lvl8pPr marL="3429000" lvl="7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8pPr>
      <a:lvl9pPr marL="3886200" lvl="8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173A155-D39B-4A4B-8D04-AEDF7C74512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5635022-F8A5-4229-B18F-290C3D3C64FB}"/>
              </a:ext>
            </a:extLst>
          </p:cNvPr>
          <p:cNvSpPr txBox="1"/>
          <p:nvPr/>
        </p:nvSpPr>
        <p:spPr>
          <a:xfrm>
            <a:off x="1055440" y="1700808"/>
            <a:ext cx="10696612" cy="19442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US" sz="4000" dirty="0">
              <a:solidFill>
                <a:srgbClr val="00B050"/>
              </a:solidFill>
              <a:latin typeface="Arial Rounded MT Bold"/>
            </a:endParaRPr>
          </a:p>
        </p:txBody>
      </p:sp>
      <p:sp>
        <p:nvSpPr>
          <p:cNvPr id="3" name="Title 1">
            <a:extLst>
              <a:ext uri="{64856C8F-7DB4-4507-9010-97CF4AE55C3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2140DA9-F832-465D-86DE-FEB6803F3756}"/>
              </a:ext>
            </a:extLst>
          </p:cNvPr>
          <p:cNvSpPr txBox="1"/>
          <p:nvPr/>
        </p:nvSpPr>
        <p:spPr>
          <a:xfrm>
            <a:off x="381000" y="2492896"/>
            <a:ext cx="10696612" cy="9361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b="1" dirty="0">
                <a:latin typeface="Californian FB" panose="0207040306080B030204" pitchFamily="18" charset="0"/>
                <a:cs typeface="Aharoni" panose="02010803020104030203" pitchFamily="2" charset="-79"/>
              </a:rPr>
              <a:t>        Student Attendance Management System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IN" sz="2800" b="1" dirty="0">
              <a:latin typeface="Californian FB" panose="0207040306080B030204" pitchFamily="18" charset="0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US" sz="2800" b="1" dirty="0">
              <a:latin typeface="Californian FB" panose="0207040306080B030204" pitchFamily="18" charset="0"/>
              <a:cs typeface="Aharoni" panose="02010803020104030203" pitchFamily="2" charset="-79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2A8C70-3A77-94EC-FC3D-FDF5B598157E}"/>
              </a:ext>
              <a:ext uri="{20663F85-F48B-43E1-96BA-3B1BE53937F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xmlns:lc="http://schemas.openxmlformats.org/drawingml/2006/lockedCanvas" id="{6082DE41-6288-42A5-A437-B3C890B5FD67}"/>
              </a:ext>
            </a:extLst>
          </p:cNvPr>
          <p:cNvSpPr txBox="1"/>
          <p:nvPr/>
        </p:nvSpPr>
        <p:spPr>
          <a:xfrm>
            <a:off x="1600200" y="2855026"/>
            <a:ext cx="10696612" cy="207025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marL="0" lvl="0" algn="l" rtl="0">
              <a:defRPr lang="en-US" sz="1800" dirty="0">
                <a:solidFill>
                  <a:schemeClr val="tx1"/>
                </a:solidFill>
                <a:latin typeface="+mn-lt"/>
              </a:defRPr>
            </a:lvl1pPr>
            <a:lvl2pPr marL="457200" lvl="1" algn="l" rtl="0">
              <a:defRPr lang="en-US" sz="1800" dirty="0">
                <a:solidFill>
                  <a:schemeClr val="tx1"/>
                </a:solidFill>
                <a:latin typeface="+mn-lt"/>
              </a:defRPr>
            </a:lvl2pPr>
            <a:lvl3pPr marL="914400" lvl="2" algn="l" rtl="0">
              <a:defRPr lang="en-US" sz="1800" dirty="0">
                <a:solidFill>
                  <a:schemeClr val="tx1"/>
                </a:solidFill>
                <a:latin typeface="+mn-lt"/>
              </a:defRPr>
            </a:lvl3pPr>
            <a:lvl4pPr marL="1371600" lvl="3" algn="l" rtl="0">
              <a:defRPr lang="en-US" sz="1800" dirty="0">
                <a:solidFill>
                  <a:schemeClr val="tx1"/>
                </a:solidFill>
                <a:latin typeface="+mn-lt"/>
              </a:defRPr>
            </a:lvl4pPr>
            <a:lvl5pPr marL="1828800" lvl="4" algn="l" rtl="0">
              <a:defRPr lang="en-US" sz="1800" dirty="0">
                <a:solidFill>
                  <a:schemeClr val="tx1"/>
                </a:solidFill>
                <a:latin typeface="+mn-lt"/>
              </a:defRPr>
            </a:lvl5pPr>
            <a:lvl6pPr marL="2286000" lvl="5" algn="l" rtl="0">
              <a:defRPr lang="en-US" sz="1800" dirty="0">
                <a:solidFill>
                  <a:schemeClr val="tx1"/>
                </a:solidFill>
                <a:latin typeface="+mn-lt"/>
              </a:defRPr>
            </a:lvl6pPr>
            <a:lvl7pPr marL="2743200" lvl="6" algn="l" rtl="0">
              <a:defRPr lang="en-US" sz="1800" dirty="0">
                <a:solidFill>
                  <a:schemeClr val="tx1"/>
                </a:solidFill>
                <a:latin typeface="+mn-lt"/>
              </a:defRPr>
            </a:lvl7pPr>
            <a:lvl8pPr marL="3200400" lvl="7" algn="l" rtl="0">
              <a:defRPr lang="en-US" sz="1800" dirty="0">
                <a:solidFill>
                  <a:schemeClr val="tx1"/>
                </a:solidFill>
                <a:latin typeface="+mn-lt"/>
              </a:defRPr>
            </a:lvl8pPr>
            <a:lvl9pPr marL="3657600" lvl="8" algn="l" rtl="0">
              <a:defRPr lang="en-US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accent2"/>
                </a:solidFill>
                <a:latin typeface="Californian FB" panose="0207040306080B030204" pitchFamily="18" charset="0"/>
                <a:cs typeface="Times New Roman" panose="02020603050405020304" pitchFamily="18" charset="0"/>
              </a:rPr>
              <a:t>Course Instructor:                             Presented by:</a:t>
            </a:r>
          </a:p>
          <a:p>
            <a:pPr lvl="0">
              <a:spcBef>
                <a:spcPct val="0"/>
              </a:spcBef>
            </a:pPr>
            <a:r>
              <a:rPr lang="en-US" dirty="0">
                <a:solidFill>
                  <a:srgbClr val="002060"/>
                </a:solidFill>
                <a:latin typeface="Californian FB" panose="0207040306080B030204" pitchFamily="18" charset="0"/>
                <a:cs typeface="Times New Roman" panose="02020603050405020304" pitchFamily="18" charset="0"/>
              </a:rPr>
              <a:t>N.AKHILA, </a:t>
            </a:r>
            <a:r>
              <a:rPr lang="en-US" dirty="0" err="1">
                <a:solidFill>
                  <a:srgbClr val="002060"/>
                </a:solidFill>
                <a:latin typeface="Californian FB" panose="0207040306080B030204" pitchFamily="18" charset="0"/>
                <a:cs typeface="Times New Roman" panose="02020603050405020304" pitchFamily="18" charset="0"/>
              </a:rPr>
              <a:t>M.Tech</a:t>
            </a:r>
            <a:r>
              <a:rPr lang="en-US" dirty="0">
                <a:solidFill>
                  <a:srgbClr val="002060"/>
                </a:solidFill>
                <a:latin typeface="Californian FB" panose="0207040306080B0302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solidFill>
                  <a:srgbClr val="002060"/>
                </a:solidFill>
                <a:latin typeface="Californian FB" panose="0207040306080B030204" pitchFamily="18" charset="0"/>
                <a:cs typeface="Times New Roman" panose="02020603050405020304" pitchFamily="18" charset="0"/>
              </a:rPr>
              <a:t>Ph.D</a:t>
            </a:r>
            <a:r>
              <a:rPr lang="en-US" dirty="0">
                <a:solidFill>
                  <a:srgbClr val="002060"/>
                </a:solidFill>
                <a:latin typeface="Californian FB" panose="0207040306080B030204" pitchFamily="18" charset="0"/>
                <a:cs typeface="Times New Roman" panose="02020603050405020304" pitchFamily="18" charset="0"/>
              </a:rPr>
              <a:t>),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            			</a:t>
            </a:r>
          </a:p>
          <a:p>
            <a:pPr lvl="0">
              <a:spcBef>
                <a:spcPct val="0"/>
              </a:spcBef>
            </a:pPr>
            <a:r>
              <a:rPr lang="en-US" dirty="0">
                <a:solidFill>
                  <a:srgbClr val="002060"/>
                </a:solidFill>
                <a:latin typeface="Californian FB" panose="0207040306080B030204" pitchFamily="18" charset="0"/>
                <a:cs typeface="Times New Roman" panose="02020603050405020304" pitchFamily="18" charset="0"/>
              </a:rPr>
              <a:t>ASSISTANT PROFESSOR, </a:t>
            </a:r>
            <a:endParaRPr lang="en-US" sz="3600" dirty="0">
              <a:solidFill>
                <a:srgbClr val="002060"/>
              </a:solidFill>
              <a:latin typeface="Californian FB" panose="0207040306080B0302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ct val="0"/>
              </a:spcBef>
            </a:pPr>
            <a:r>
              <a:rPr lang="en-US" dirty="0">
                <a:solidFill>
                  <a:srgbClr val="002060"/>
                </a:solidFill>
                <a:latin typeface="Californian FB" panose="0207040306080B030204" pitchFamily="18" charset="0"/>
                <a:cs typeface="Times New Roman" panose="02020603050405020304" pitchFamily="18" charset="0"/>
              </a:rPr>
              <a:t>AIML DEPTARTMENT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F159A1-205A-9A84-5F29-BAC09BFFE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560231"/>
              </p:ext>
            </p:extLst>
          </p:nvPr>
        </p:nvGraphicFramePr>
        <p:xfrm>
          <a:off x="6553200" y="4007154"/>
          <a:ext cx="4927600" cy="1280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65244">
                  <a:extLst>
                    <a:ext uri="{9D8B030D-6E8A-4147-A177-3AD203B41FA5}">
                      <a16:colId xmlns:a16="http://schemas.microsoft.com/office/drawing/2014/main" val="4008646060"/>
                    </a:ext>
                  </a:extLst>
                </a:gridCol>
                <a:gridCol w="3462356">
                  <a:extLst>
                    <a:ext uri="{9D8B030D-6E8A-4147-A177-3AD203B41FA5}">
                      <a16:colId xmlns:a16="http://schemas.microsoft.com/office/drawing/2014/main" val="417737212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2060"/>
                          </a:solidFill>
                          <a:effectLst/>
                          <a:latin typeface="Californian FB" panose="0207040306080B030204" pitchFamily="18" charset="0"/>
                          <a:cs typeface="Times New Roman" panose="02020603050405020304" pitchFamily="18" charset="0"/>
                        </a:rPr>
                        <a:t>  25B11AI860 :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2060"/>
                          </a:solidFill>
                          <a:effectLst/>
                          <a:latin typeface="Californian FB" panose="0207040306080B030204" pitchFamily="18" charset="0"/>
                          <a:cs typeface="Times New Roman" panose="02020603050405020304" pitchFamily="18" charset="0"/>
                        </a:rPr>
                        <a:t>ORSU LEELA BHARANI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402992021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2060"/>
                          </a:solidFill>
                          <a:effectLst/>
                          <a:latin typeface="Californian FB" panose="0207040306080B030204" pitchFamily="18" charset="0"/>
                          <a:cs typeface="Times New Roman" panose="02020603050405020304" pitchFamily="18" charset="0"/>
                        </a:rPr>
                        <a:t>25B11AI103: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2060"/>
                          </a:solidFill>
                          <a:effectLst/>
                          <a:latin typeface="Californian FB" panose="0207040306080B030204" pitchFamily="18" charset="0"/>
                          <a:cs typeface="Times New Roman" panose="02020603050405020304" pitchFamily="18" charset="0"/>
                        </a:rPr>
                        <a:t>BATHULA N S L DURGA RISHITHA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206036155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2060"/>
                          </a:solidFill>
                          <a:effectLst/>
                          <a:latin typeface="Californian FB" panose="0207040306080B030204" pitchFamily="18" charset="0"/>
                          <a:cs typeface="Times New Roman" panose="02020603050405020304" pitchFamily="18" charset="0"/>
                        </a:rPr>
                        <a:t>25B11AI357: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2060"/>
                          </a:solidFill>
                          <a:effectLst/>
                          <a:latin typeface="Californian FB" panose="0207040306080B030204" pitchFamily="18" charset="0"/>
                          <a:cs typeface="Times New Roman" panose="02020603050405020304" pitchFamily="18" charset="0"/>
                        </a:rPr>
                        <a:t>GONDYALA SRIRAM PRAKHYATH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225140914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2060"/>
                          </a:solidFill>
                          <a:effectLst/>
                          <a:latin typeface="Californian FB" panose="0207040306080B030204" pitchFamily="18" charset="0"/>
                          <a:cs typeface="Times New Roman" panose="02020603050405020304" pitchFamily="18" charset="0"/>
                        </a:rPr>
                        <a:t>26B21AI027:</a:t>
                      </a: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2060"/>
                          </a:solidFill>
                          <a:effectLst/>
                          <a:latin typeface="Californian FB" panose="0207040306080B030204" pitchFamily="18" charset="0"/>
                          <a:cs typeface="Times New Roman" panose="02020603050405020304" pitchFamily="18" charset="0"/>
                        </a:rPr>
                        <a:t>ELUBANDI MANIKANTA</a:t>
                      </a: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846112601"/>
                  </a:ext>
                </a:extLst>
              </a:tr>
            </a:tbl>
          </a:graphicData>
        </a:graphic>
      </p:graphicFrame>
    </p:spTree>
    <p:extLst>
      <p:ext uri="{59DB2955-81A9-4330-9517-4CB607EFC6F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026935" y="738859"/>
            <a:ext cx="10941915" cy="5659450"/>
          </a:xfrm>
        </p:spPr>
        <p:txBody>
          <a:bodyPr>
            <a:noAutofit/>
          </a:bodyPr>
          <a:lstStyle/>
          <a:p>
            <a:pPr marL="742950" indent="-285750" algn="ctr">
              <a:buFont typeface="Arial" panose="020B0604020202020204" pitchFamily="34" charset="0"/>
              <a:buChar char="•"/>
            </a:pPr>
            <a:endParaRPr lang="en-US" sz="1800" b="1" dirty="0">
              <a:latin typeface="Californian FB" panose="0207040306080B0302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fornian FB" panose="0207040306080B030204" pitchFamily="18" charset="0"/>
                <a:ea typeface="Calibri"/>
                <a:cs typeface="Times New Roman" panose="02020603050405020304" pitchFamily="18" charset="0"/>
              </a:rPr>
              <a:t>Abstract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fornian FB" panose="0207040306080B030204" pitchFamily="18" charset="0"/>
                <a:ea typeface="Calibri"/>
                <a:cs typeface="Times New Roman" panose="02020603050405020304" pitchFamily="18" charset="0"/>
              </a:rPr>
              <a:t>Introduction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fornian FB" panose="0207040306080B030204" pitchFamily="18" charset="0"/>
                <a:ea typeface="Calibri"/>
                <a:cs typeface="Times New Roman" panose="02020603050405020304" pitchFamily="18" charset="0"/>
              </a:rPr>
              <a:t>Problem Statement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fornian FB" panose="0207040306080B030204" pitchFamily="18" charset="0"/>
                <a:ea typeface="Calibri"/>
                <a:cs typeface="Times New Roman" panose="02020603050405020304" pitchFamily="18" charset="0"/>
              </a:rPr>
              <a:t>Objectives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fornian FB" panose="0207040306080B030204" pitchFamily="18" charset="0"/>
                <a:ea typeface="Calibri"/>
                <a:cs typeface="Times New Roman" panose="02020603050405020304" pitchFamily="18" charset="0"/>
              </a:rPr>
              <a:t>Novelty of the Project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fornian FB" panose="0207040306080B030204" pitchFamily="18" charset="0"/>
                <a:ea typeface="Calibri"/>
                <a:cs typeface="Times New Roman" panose="02020603050405020304" pitchFamily="18" charset="0"/>
              </a:rPr>
              <a:t>Modules and Functions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fornian FB" panose="0207040306080B030204" pitchFamily="18" charset="0"/>
                <a:ea typeface="Calibri"/>
                <a:cs typeface="Times New Roman" panose="02020603050405020304" pitchFamily="18" charset="0"/>
              </a:rPr>
              <a:t>Implementation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fornian FB" panose="0207040306080B030204" pitchFamily="18" charset="0"/>
                <a:ea typeface="Calibri"/>
                <a:cs typeface="Times New Roman" panose="02020603050405020304" pitchFamily="18" charset="0"/>
              </a:rPr>
              <a:t>C++ Concepts Used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fornian FB" panose="0207040306080B030204" pitchFamily="18" charset="0"/>
                <a:ea typeface="Calibri"/>
                <a:cs typeface="Times New Roman" panose="02020603050405020304" pitchFamily="18" charset="0"/>
              </a:rPr>
              <a:t>Inputs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fornian FB" panose="0207040306080B030204" pitchFamily="18" charset="0"/>
                <a:ea typeface="Calibri"/>
                <a:cs typeface="Times New Roman" panose="02020603050405020304" pitchFamily="18" charset="0"/>
              </a:rPr>
              <a:t>Expected Outputs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fornian FB" panose="0207040306080B030204" pitchFamily="18" charset="0"/>
                <a:ea typeface="Calibri"/>
                <a:cs typeface="Times New Roman" panose="02020603050405020304" pitchFamily="18" charset="0"/>
              </a:rPr>
              <a:t>Flowchart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fornian FB" panose="0207040306080B030204" pitchFamily="18" charset="0"/>
                <a:ea typeface="Calibri"/>
                <a:cs typeface="Times New Roman" panose="02020603050405020304" pitchFamily="18" charset="0"/>
              </a:rPr>
              <a:t>Team Contribution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fornian FB" panose="0207040306080B030204" pitchFamily="18" charset="0"/>
                <a:ea typeface="Calibri"/>
                <a:cs typeface="Times New Roman" panose="02020603050405020304" pitchFamily="18" charset="0"/>
              </a:rPr>
              <a:t>Conclusion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fornian FB" panose="0207040306080B030204" pitchFamily="18" charset="0"/>
                <a:ea typeface="Calibri"/>
                <a:cs typeface="Times New Roman" panose="02020603050405020304" pitchFamily="18" charset="0"/>
              </a:rPr>
              <a:t>References 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endParaRPr lang="en-US" sz="1800" b="1" dirty="0">
              <a:latin typeface="Californian FB" panose="0207040306080B030204" pitchFamily="18" charset="0"/>
              <a:ea typeface="Calibri"/>
              <a:cs typeface="Times New Roman" panose="02020603050405020304" pitchFamily="18" charset="0"/>
            </a:endParaRPr>
          </a:p>
          <a:p>
            <a:pPr marL="742950" indent="-285750">
              <a:buFont typeface="Arial" panose="020B0604020202020204" pitchFamily="34" charset="0"/>
              <a:buChar char="•"/>
            </a:pPr>
            <a:endParaRPr lang="en-US" sz="1800" b="1" dirty="0">
              <a:latin typeface="Californian FB" panose="0207040306080B030204" pitchFamily="18" charset="0"/>
              <a:ea typeface="Calibri"/>
              <a:cs typeface="Times New Roman" panose="02020603050405020304" pitchFamily="18" charset="0"/>
            </a:endParaRPr>
          </a:p>
          <a:p>
            <a:pPr marL="9144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b="1" dirty="0">
              <a:latin typeface="Californian FB" panose="0207040306080B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2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886200" y="433845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>
            <a:normAutofit fontScale="92500" lnSpcReduction="20000"/>
          </a:bodyPr>
          <a:lstStyle/>
          <a:p>
            <a:pPr marL="8001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Californian FB" panose="0207040306080B0302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Californian FB" panose="0207040306080B030204" pitchFamily="18" charset="0"/>
                <a:cs typeface="Times New Roman" panose="02020603050405020304" pitchFamily="18" charset="0"/>
              </a:rPr>
              <a:t>Student Attendance Management System</a:t>
            </a:r>
            <a:r>
              <a:rPr lang="en-IN" sz="2400" dirty="0">
                <a:latin typeface="Californian FB" panose="0207040306080B030204" pitchFamily="18" charset="0"/>
                <a:cs typeface="Times New Roman" panose="02020603050405020304" pitchFamily="18" charset="0"/>
              </a:rPr>
              <a:t> is a simple C++ application designed to manage student attendance efficiently.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entaur" panose="02030504050205020304" pitchFamily="18" charset="0"/>
                <a:cs typeface="Times New Roman" panose="02020603050405020304" pitchFamily="18" charset="0"/>
              </a:rPr>
              <a:t>Stores student </a:t>
            </a:r>
            <a:r>
              <a:rPr lang="en-IN" sz="2400" b="1" dirty="0">
                <a:latin typeface="Centaur" panose="02030504050205020304" pitchFamily="18" charset="0"/>
                <a:cs typeface="Times New Roman" panose="02020603050405020304" pitchFamily="18" charset="0"/>
              </a:rPr>
              <a:t>roll number and name</a:t>
            </a:r>
            <a:r>
              <a:rPr lang="en-IN" sz="2400" dirty="0">
                <a:latin typeface="Centaur" panose="020305040502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entaur" panose="02030504050205020304" pitchFamily="18" charset="0"/>
                <a:cs typeface="Times New Roman" panose="02020603050405020304" pitchFamily="18" charset="0"/>
              </a:rPr>
              <a:t>Records </a:t>
            </a:r>
            <a:r>
              <a:rPr lang="en-IN" sz="2400" b="1" dirty="0">
                <a:latin typeface="Centaur" panose="02030504050205020304" pitchFamily="18" charset="0"/>
                <a:cs typeface="Times New Roman" panose="02020603050405020304" pitchFamily="18" charset="0"/>
              </a:rPr>
              <a:t>date-wise attendance</a:t>
            </a:r>
            <a:r>
              <a:rPr lang="en-IN" sz="2400" dirty="0">
                <a:latin typeface="Centaur" panose="020305040502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entaur" panose="02030504050205020304" pitchFamily="18" charset="0"/>
                <a:cs typeface="Times New Roman" panose="02020603050405020304" pitchFamily="18" charset="0"/>
              </a:rPr>
              <a:t>Marks students as </a:t>
            </a:r>
            <a:r>
              <a:rPr lang="en-IN" sz="2400" b="1" dirty="0">
                <a:latin typeface="Centaur" panose="02030504050205020304" pitchFamily="18" charset="0"/>
                <a:cs typeface="Times New Roman" panose="02020603050405020304" pitchFamily="18" charset="0"/>
              </a:rPr>
              <a:t>Present or Absent</a:t>
            </a:r>
            <a:r>
              <a:rPr lang="en-IN" sz="2400" dirty="0">
                <a:latin typeface="Centaur" panose="020305040502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entaur" panose="02030504050205020304" pitchFamily="18" charset="0"/>
                <a:cs typeface="Times New Roman" panose="02020603050405020304" pitchFamily="18" charset="0"/>
              </a:rPr>
              <a:t>Calculates </a:t>
            </a:r>
            <a:r>
              <a:rPr lang="en-IN" sz="2400" b="1" dirty="0">
                <a:latin typeface="Centaur" panose="02030504050205020304" pitchFamily="18" charset="0"/>
                <a:cs typeface="Times New Roman" panose="02020603050405020304" pitchFamily="18" charset="0"/>
              </a:rPr>
              <a:t>attendance percentage</a:t>
            </a:r>
            <a:r>
              <a:rPr lang="en-IN" sz="2400" dirty="0">
                <a:latin typeface="Centaur" panose="020305040502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entaur" panose="02030504050205020304" pitchFamily="18" charset="0"/>
                <a:cs typeface="Times New Roman" panose="02020603050405020304" pitchFamily="18" charset="0"/>
              </a:rPr>
              <a:t>Identifies students with </a:t>
            </a:r>
            <a:r>
              <a:rPr lang="en-IN" sz="2400" b="1" dirty="0">
                <a:latin typeface="Centaur" panose="02030504050205020304" pitchFamily="18" charset="0"/>
                <a:cs typeface="Times New Roman" panose="02020603050405020304" pitchFamily="18" charset="0"/>
              </a:rPr>
              <a:t>low attendance</a:t>
            </a:r>
            <a:r>
              <a:rPr lang="en-IN" sz="2400" dirty="0">
                <a:latin typeface="Centaur" panose="020305040502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entaur" panose="02030504050205020304" pitchFamily="18" charset="0"/>
                <a:cs typeface="Times New Roman" panose="02020603050405020304" pitchFamily="18" charset="0"/>
              </a:rPr>
              <a:t>Provides a clear </a:t>
            </a:r>
            <a:r>
              <a:rPr lang="en-IN" sz="2400" b="1" dirty="0">
                <a:latin typeface="Centaur" panose="02030504050205020304" pitchFamily="18" charset="0"/>
                <a:cs typeface="Times New Roman" panose="02020603050405020304" pitchFamily="18" charset="0"/>
              </a:rPr>
              <a:t>attendance summary</a:t>
            </a:r>
            <a:endParaRPr lang="en-IN" sz="2400" dirty="0">
              <a:latin typeface="Centaur" panose="020305040502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3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886200" y="433845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Project Abstract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4DC9FC-FE4B-6406-0EEA-8EC8398706E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640781"/>
            <a:ext cx="10515600" cy="4531419"/>
          </a:xfrm>
        </p:spPr>
        <p:txBody>
          <a:bodyPr>
            <a:normAutofit/>
          </a:bodyPr>
          <a:lstStyle/>
          <a:p>
            <a:pPr marL="9144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Attendance management is an important part of academic administration. </a:t>
            </a:r>
          </a:p>
          <a:p>
            <a:pPr marL="9144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Manual attendance records are difficult to maintain and calculate. </a:t>
            </a:r>
          </a:p>
          <a:p>
            <a:pPr marL="9144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This project provides a simple </a:t>
            </a:r>
            <a:r>
              <a:rPr lang="en-IN" sz="2300" b="1" dirty="0">
                <a:latin typeface="Centaur" panose="02030504050205020304" pitchFamily="18" charset="0"/>
                <a:cs typeface="Times New Roman" panose="02020603050405020304" pitchFamily="18" charset="0"/>
              </a:rPr>
              <a:t>menu-driven C++ application</a:t>
            </a: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. </a:t>
            </a:r>
          </a:p>
          <a:p>
            <a:pPr marL="9144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It allows faculty to add students, mark attendance, search records and view summaries. </a:t>
            </a:r>
          </a:p>
          <a:p>
            <a:pPr marL="914400" lvl="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The system demonstrates practical use of </a:t>
            </a:r>
            <a:r>
              <a:rPr lang="en-IN" sz="2300" b="1" dirty="0">
                <a:latin typeface="Centaur" panose="02030504050205020304" pitchFamily="18" charset="0"/>
                <a:cs typeface="Times New Roman" panose="02020603050405020304" pitchFamily="18" charset="0"/>
              </a:rPr>
              <a:t>Object-Oriented Programming concepts</a:t>
            </a: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2EC632-A017-CE3D-534E-BDD7A6685799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C20F1802-9C65-458A-8FBF-F4B557FF234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400338-B220-9ABD-DFAF-473C002B35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E40E5-5106-DDD7-54EA-E84E420D02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4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F1AAC2-E3C2-0BF2-2B4D-163FC7EBCCF1}"/>
              </a:ext>
            </a:extLst>
          </p:cNvPr>
          <p:cNvSpPr txBox="1"/>
          <p:nvPr/>
        </p:nvSpPr>
        <p:spPr>
          <a:xfrm>
            <a:off x="3886200" y="433845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218907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05543" y="1371600"/>
            <a:ext cx="10515600" cy="4666185"/>
          </a:xfrm>
        </p:spPr>
        <p:txBody>
          <a:bodyPr>
            <a:normAutofit fontScale="92500" lnSpcReduction="10000"/>
          </a:bodyPr>
          <a:lstStyle/>
          <a:p>
            <a:pPr marL="914400" indent="-457200">
              <a:buFont typeface="Wingdings" panose="05000000000000000000" pitchFamily="2" charset="2"/>
              <a:buChar char="Ø"/>
            </a:pPr>
            <a:r>
              <a:rPr lang="en-IN" sz="2700" b="1" dirty="0">
                <a:latin typeface="Californian FB" panose="0207040306080B0302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10000"/>
              </a:lnSpc>
            </a:pPr>
            <a:r>
              <a:rPr lang="en-IN" sz="2500" dirty="0">
                <a:latin typeface="Centaur" panose="02030504050205020304" pitchFamily="18" charset="0"/>
                <a:cs typeface="Times New Roman" panose="02020603050405020304" pitchFamily="18" charset="0"/>
              </a:rPr>
              <a:t>Managing student attendance manually can be </a:t>
            </a:r>
            <a:r>
              <a:rPr lang="en-IN" sz="2500" b="1" dirty="0">
                <a:latin typeface="Centaur" panose="02030504050205020304" pitchFamily="18" charset="0"/>
                <a:cs typeface="Times New Roman" panose="02020603050405020304" pitchFamily="18" charset="0"/>
              </a:rPr>
              <a:t>time-consuming and difficult to track</a:t>
            </a:r>
            <a:r>
              <a:rPr lang="en-IN" sz="2500" dirty="0">
                <a:latin typeface="Centaur" panose="02030504050205020304" pitchFamily="18" charset="0"/>
                <a:cs typeface="Times New Roman" panose="02020603050405020304" pitchFamily="18" charset="0"/>
              </a:rPr>
              <a:t>. Calculating attendance percentages and identifying students with low attendance may also lead to errors.</a:t>
            </a:r>
          </a:p>
          <a:p>
            <a:pPr marL="914400" indent="-457200">
              <a:buFont typeface="Wingdings" panose="05000000000000000000" pitchFamily="2" charset="2"/>
              <a:buChar char="Ø"/>
            </a:pPr>
            <a:r>
              <a:rPr lang="en-IN" sz="2700" b="1" dirty="0">
                <a:latin typeface="Californian FB" panose="0207040306080B0302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Centaur" panose="02030504050205020304" pitchFamily="18" charset="0"/>
                <a:cs typeface="Times New Roman" panose="02020603050405020304" pitchFamily="18" charset="0"/>
              </a:rPr>
              <a:t>Maintain student attendance </a:t>
            </a:r>
            <a:r>
              <a:rPr lang="en-IN" sz="2500" b="1" dirty="0">
                <a:latin typeface="Centaur" panose="02030504050205020304" pitchFamily="18" charset="0"/>
                <a:cs typeface="Times New Roman" panose="02020603050405020304" pitchFamily="18" charset="0"/>
              </a:rPr>
              <a:t>date-wise</a:t>
            </a:r>
            <a:r>
              <a:rPr lang="en-IN" sz="2500" dirty="0">
                <a:latin typeface="Centaur" panose="020305040502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Centaur" panose="02030504050205020304" pitchFamily="18" charset="0"/>
                <a:cs typeface="Times New Roman" panose="02020603050405020304" pitchFamily="18" charset="0"/>
              </a:rPr>
              <a:t>Reduce </a:t>
            </a:r>
            <a:r>
              <a:rPr lang="en-IN" sz="2500" b="1" dirty="0">
                <a:latin typeface="Centaur" panose="02030504050205020304" pitchFamily="18" charset="0"/>
                <a:cs typeface="Times New Roman" panose="02020603050405020304" pitchFamily="18" charset="0"/>
              </a:rPr>
              <a:t>manual calculation</a:t>
            </a:r>
            <a:r>
              <a:rPr lang="en-IN" sz="2500" dirty="0">
                <a:latin typeface="Centaur" panose="020305040502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Centaur" panose="02030504050205020304" pitchFamily="18" charset="0"/>
                <a:cs typeface="Times New Roman" panose="02020603050405020304" pitchFamily="18" charset="0"/>
              </a:rPr>
              <a:t>Provide quick </a:t>
            </a:r>
            <a:r>
              <a:rPr lang="en-IN" sz="2500" b="1" dirty="0">
                <a:latin typeface="Centaur" panose="02030504050205020304" pitchFamily="18" charset="0"/>
                <a:cs typeface="Times New Roman" panose="02020603050405020304" pitchFamily="18" charset="0"/>
              </a:rPr>
              <a:t>attendance search</a:t>
            </a:r>
            <a:r>
              <a:rPr lang="en-IN" sz="2500" dirty="0">
                <a:latin typeface="Centaur" panose="020305040502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Centaur" panose="02030504050205020304" pitchFamily="18" charset="0"/>
                <a:cs typeface="Times New Roman" panose="02020603050405020304" pitchFamily="18" charset="0"/>
              </a:rPr>
              <a:t>Calculate </a:t>
            </a:r>
            <a:r>
              <a:rPr lang="en-IN" sz="2500" b="1" dirty="0">
                <a:latin typeface="Centaur" panose="02030504050205020304" pitchFamily="18" charset="0"/>
                <a:cs typeface="Times New Roman" panose="02020603050405020304" pitchFamily="18" charset="0"/>
              </a:rPr>
              <a:t>attendance percentage automatically</a:t>
            </a:r>
            <a:r>
              <a:rPr lang="en-IN" sz="2500" dirty="0">
                <a:latin typeface="Centaur" panose="020305040502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Centaur" panose="02030504050205020304" pitchFamily="18" charset="0"/>
                <a:cs typeface="Times New Roman" panose="02020603050405020304" pitchFamily="18" charset="0"/>
              </a:rPr>
              <a:t>Identify students with </a:t>
            </a:r>
            <a:r>
              <a:rPr lang="en-IN" sz="2500" b="1" dirty="0">
                <a:latin typeface="Centaur" panose="02030504050205020304" pitchFamily="18" charset="0"/>
                <a:cs typeface="Times New Roman" panose="02020603050405020304" pitchFamily="18" charset="0"/>
              </a:rPr>
              <a:t>low attendance</a:t>
            </a:r>
            <a:r>
              <a:rPr lang="en-IN" sz="2500" dirty="0">
                <a:latin typeface="Centaur" panose="020305040502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Centaur" panose="02030504050205020304" pitchFamily="18" charset="0"/>
                <a:cs typeface="Times New Roman" panose="02020603050405020304" pitchFamily="18" charset="0"/>
              </a:rPr>
              <a:t>Display a clear </a:t>
            </a:r>
            <a:r>
              <a:rPr lang="en-IN" sz="2500" b="1" dirty="0">
                <a:latin typeface="Centaur" panose="02030504050205020304" pitchFamily="18" charset="0"/>
                <a:cs typeface="Times New Roman" panose="02020603050405020304" pitchFamily="18" charset="0"/>
              </a:rPr>
              <a:t>attendance summary</a:t>
            </a:r>
            <a:endParaRPr lang="en-IN" sz="2500" dirty="0">
              <a:latin typeface="Centaur" panose="020305040502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5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Problem Statement &amp; Objectives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AA166D-0C46-8B21-0B4E-7A2188FD9BB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766192" y="1600200"/>
            <a:ext cx="10515600" cy="4531419"/>
          </a:xfrm>
        </p:spPr>
        <p:txBody>
          <a:bodyPr>
            <a:noAutofit/>
          </a:bodyPr>
          <a:lstStyle/>
          <a:p>
            <a:pPr marL="9144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Simple and easy-to-use </a:t>
            </a:r>
            <a:r>
              <a:rPr lang="en-IN" sz="2300" b="1" dirty="0">
                <a:latin typeface="Centaur" panose="02030504050205020304" pitchFamily="18" charset="0"/>
                <a:cs typeface="Times New Roman" panose="02020603050405020304" pitchFamily="18" charset="0"/>
              </a:rPr>
              <a:t>menu-driven interface</a:t>
            </a: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. </a:t>
            </a:r>
          </a:p>
          <a:p>
            <a:pPr marL="9144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Date-wise attendance is maintained for each student. </a:t>
            </a:r>
          </a:p>
          <a:p>
            <a:pPr marL="9144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Duplicate attendance for the same date is prevented. </a:t>
            </a:r>
          </a:p>
          <a:p>
            <a:pPr marL="9144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Attendance percentage is calculated automatically. </a:t>
            </a:r>
          </a:p>
          <a:p>
            <a:pPr marL="9144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Low-attendance students are identified instantly. </a:t>
            </a:r>
          </a:p>
          <a:p>
            <a:pPr marL="9144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Uses OOP concepts to organize student and attendance data.</a:t>
            </a:r>
          </a:p>
          <a:p>
            <a:pPr marL="9144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300" dirty="0">
              <a:latin typeface="Centaur" panose="020305040502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97FFE7-3D4A-B20A-D3FD-10E7F80215A9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C20F1802-9C65-458A-8FBF-F4B557FF234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F1DC0-07E7-C8AC-E3F8-627E96DB9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FFB6D7-5882-2CE8-7280-5900F40B11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6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C8632-9AE2-AA15-C075-ED798BE70472}"/>
              </a:ext>
            </a:extLst>
          </p:cNvPr>
          <p:cNvSpPr txBox="1"/>
          <p:nvPr/>
        </p:nvSpPr>
        <p:spPr>
          <a:xfrm>
            <a:off x="1596000" y="433845"/>
            <a:ext cx="90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/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                 Novelty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2400246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1447800"/>
            <a:ext cx="9677400" cy="4419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sz="2100" b="1" dirty="0">
                <a:latin typeface="Californian FB" panose="0207040306080B030204" pitchFamily="18" charset="0"/>
                <a:cs typeface="Times New Roman" panose="02020603050405020304" pitchFamily="18" charset="0"/>
              </a:rPr>
              <a:t>Student Management </a:t>
            </a:r>
            <a:r>
              <a:rPr lang="en-IN" sz="2100" b="1" dirty="0">
                <a:latin typeface="Californian FB" panose="0207040306080B030204" pitchFamily="18" charset="0"/>
              </a:rPr>
              <a:t>Module</a:t>
            </a:r>
            <a:endParaRPr lang="en-US" sz="2100" b="1" dirty="0">
              <a:latin typeface="Californian FB" panose="0207040306080B030204" pitchFamily="18" charset="0"/>
              <a:cs typeface="Times New Roman" panose="02020603050405020304" pitchFamily="18" charset="0"/>
            </a:endParaRPr>
          </a:p>
          <a:p>
            <a:pPr marL="8001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fornian FB" panose="0207040306080B030204" pitchFamily="18" charset="0"/>
                <a:cs typeface="Times New Roman" panose="02020603050405020304" pitchFamily="18" charset="0"/>
              </a:rPr>
              <a:t>add</a:t>
            </a:r>
            <a:r>
              <a:rPr lang="en-IN" sz="2000" b="1" dirty="0">
                <a:latin typeface="Californian FB" panose="0207040306080B030204" pitchFamily="18" charset="0"/>
              </a:rPr>
              <a:t>Student()  </a:t>
            </a:r>
            <a:r>
              <a:rPr lang="en-IN" sz="2000" dirty="0"/>
              <a:t>–</a:t>
            </a:r>
            <a:r>
              <a:rPr lang="en-IN" sz="2000" dirty="0">
                <a:latin typeface="Centaur" panose="02030504050205020304" pitchFamily="18" charset="0"/>
              </a:rPr>
              <a:t> Store roll number and student name </a:t>
            </a:r>
          </a:p>
          <a:p>
            <a:pPr marL="8001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Californian FB" panose="0207040306080B030204" pitchFamily="18" charset="0"/>
              </a:rPr>
              <a:t>findStudent</a:t>
            </a:r>
            <a:r>
              <a:rPr lang="en-IN" sz="2000" b="1" dirty="0">
                <a:latin typeface="Californian FB" panose="0207040306080B030204" pitchFamily="18" charset="0"/>
              </a:rPr>
              <a:t>()</a:t>
            </a:r>
            <a:r>
              <a:rPr lang="en-IN" sz="2000" b="1" dirty="0"/>
              <a:t> </a:t>
            </a:r>
            <a:r>
              <a:rPr lang="en-IN" sz="2000" dirty="0"/>
              <a:t>–</a:t>
            </a:r>
            <a:r>
              <a:rPr lang="en-IN" sz="2000" dirty="0">
                <a:latin typeface="Centaur" panose="02030504050205020304" pitchFamily="18" charset="0"/>
              </a:rPr>
              <a:t> Searches for a student by roll number</a:t>
            </a:r>
          </a:p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100" b="1" dirty="0" err="1">
                <a:latin typeface="Californian FB" panose="0207040306080B030204" pitchFamily="18" charset="0"/>
              </a:rPr>
              <a:t>removeStudent</a:t>
            </a:r>
            <a:r>
              <a:rPr lang="en-IN" sz="2100" b="1" dirty="0">
                <a:latin typeface="Californian FB" panose="0207040306080B030204" pitchFamily="18" charset="0"/>
              </a:rPr>
              <a:t>()</a:t>
            </a:r>
            <a:r>
              <a:rPr lang="en-IN" sz="2400" b="1" dirty="0"/>
              <a:t> </a:t>
            </a:r>
            <a:r>
              <a:rPr lang="en-IN" sz="2400" dirty="0"/>
              <a:t>–</a:t>
            </a:r>
            <a:r>
              <a:rPr lang="en-IN" sz="2400" dirty="0">
                <a:latin typeface="Centaur" panose="02030504050205020304" pitchFamily="18" charset="0"/>
              </a:rPr>
              <a:t> </a:t>
            </a:r>
            <a:r>
              <a:rPr lang="en-IN" sz="2100" dirty="0">
                <a:latin typeface="Centaur" panose="02030504050205020304" pitchFamily="18" charset="0"/>
              </a:rPr>
              <a:t>Remove students</a:t>
            </a:r>
            <a:endParaRPr lang="en-IN" sz="2100" b="1" dirty="0">
              <a:latin typeface="Californian FB" panose="0207040306080B030204" pitchFamily="18" charset="0"/>
            </a:endParaRPr>
          </a:p>
          <a:p>
            <a:pPr lvl="0">
              <a:lnSpc>
                <a:spcPct val="100000"/>
              </a:lnSpc>
            </a:pPr>
            <a:r>
              <a:rPr lang="en-IN" sz="2100" b="1" dirty="0">
                <a:latin typeface="Californian FB" panose="0207040306080B030204" pitchFamily="18" charset="0"/>
              </a:rPr>
              <a:t>Attendance Management Module</a:t>
            </a:r>
          </a:p>
          <a:p>
            <a:pPr marL="8001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Californian FB" panose="0207040306080B030204" pitchFamily="18" charset="0"/>
              </a:rPr>
              <a:t>markAttendance</a:t>
            </a:r>
            <a:r>
              <a:rPr lang="en-IN" sz="2000" b="1" dirty="0">
                <a:latin typeface="Californian FB" panose="0207040306080B030204" pitchFamily="18" charset="0"/>
              </a:rPr>
              <a:t>() – </a:t>
            </a:r>
            <a:r>
              <a:rPr lang="en-IN" sz="2000" dirty="0">
                <a:latin typeface="Centaur" panose="02030504050205020304" pitchFamily="18" charset="0"/>
              </a:rPr>
              <a:t>Records Present/Absent status</a:t>
            </a:r>
            <a:r>
              <a:rPr lang="en-IN" sz="2000" dirty="0"/>
              <a:t>.</a:t>
            </a:r>
          </a:p>
          <a:p>
            <a:pPr marL="8001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 err="1">
                <a:latin typeface="Californian FB" panose="0207040306080B030204" pitchFamily="18" charset="0"/>
              </a:rPr>
              <a:t>hasDate</a:t>
            </a:r>
            <a:r>
              <a:rPr lang="en-IN" sz="2000" b="1" dirty="0">
                <a:latin typeface="Californian FB" panose="0207040306080B030204" pitchFamily="18" charset="0"/>
              </a:rPr>
              <a:t>() – </a:t>
            </a:r>
            <a:r>
              <a:rPr lang="en-IN" sz="2000" dirty="0">
                <a:latin typeface="Centaur" panose="02030504050205020304" pitchFamily="18" charset="0"/>
              </a:rPr>
              <a:t>Checks whether attendance is already marked for a date.</a:t>
            </a:r>
          </a:p>
          <a:p>
            <a:pPr marL="8001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fornian FB" panose="0207040306080B030204" pitchFamily="18" charset="0"/>
              </a:rPr>
              <a:t>Student::</a:t>
            </a:r>
            <a:r>
              <a:rPr lang="en-IN" sz="2000" b="1" dirty="0" err="1">
                <a:latin typeface="Californian FB" panose="0207040306080B030204" pitchFamily="18" charset="0"/>
              </a:rPr>
              <a:t>markAttendance</a:t>
            </a:r>
            <a:r>
              <a:rPr lang="en-IN" sz="2000" b="1" dirty="0">
                <a:latin typeface="Californian FB" panose="0207040306080B030204" pitchFamily="18" charset="0"/>
              </a:rPr>
              <a:t>() – </a:t>
            </a:r>
            <a:r>
              <a:rPr lang="en-IN" sz="2000" dirty="0">
                <a:latin typeface="Centaur" panose="02030504050205020304" pitchFamily="18" charset="0"/>
              </a:rPr>
              <a:t>Stores date and attendance status.</a:t>
            </a:r>
          </a:p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100" b="1" dirty="0" err="1">
                <a:latin typeface="Californian FB" panose="0207040306080B030204" pitchFamily="18" charset="0"/>
              </a:rPr>
              <a:t>updateAttendance</a:t>
            </a:r>
            <a:r>
              <a:rPr lang="en-IN" sz="2100" b="1" dirty="0">
                <a:latin typeface="Californian FB" panose="0207040306080B030204" pitchFamily="18" charset="0"/>
              </a:rPr>
              <a:t>() </a:t>
            </a:r>
            <a:r>
              <a:rPr lang="en-IN" sz="2400" b="1" dirty="0">
                <a:latin typeface="Californian FB" panose="0207040306080B030204" pitchFamily="18" charset="0"/>
              </a:rPr>
              <a:t>–  </a:t>
            </a:r>
            <a:r>
              <a:rPr lang="en-IN" sz="2100" dirty="0">
                <a:latin typeface="Centaur" panose="02030504050205020304" pitchFamily="18" charset="0"/>
              </a:rPr>
              <a:t>Can update already marked </a:t>
            </a:r>
            <a:r>
              <a:rPr lang="en-IN" sz="2100" dirty="0" err="1">
                <a:latin typeface="Centaur" panose="02030504050205020304" pitchFamily="18" charset="0"/>
              </a:rPr>
              <a:t>attendence</a:t>
            </a:r>
            <a:endParaRPr lang="en-IN" sz="2100" dirty="0">
              <a:latin typeface="Centaur" panose="020305040502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100" b="1" dirty="0">
                <a:latin typeface="Californian FB" panose="0207040306080B030204" pitchFamily="18" charset="0"/>
              </a:rPr>
              <a:t>Search Module</a:t>
            </a:r>
          </a:p>
          <a:p>
            <a:pPr marL="8001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fornian FB" panose="0207040306080B030204" pitchFamily="18" charset="0"/>
              </a:rPr>
              <a:t>searchStudent() – </a:t>
            </a:r>
            <a:r>
              <a:rPr lang="en-IN" sz="2000" dirty="0">
                <a:latin typeface="Centaur" panose="02030504050205020304" pitchFamily="18" charset="0"/>
              </a:rPr>
              <a:t>Searches for a student using roll number.</a:t>
            </a:r>
          </a:p>
          <a:p>
            <a:pPr marL="8001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Californian FB" panose="0207040306080B030204" pitchFamily="18" charset="0"/>
              </a:rPr>
              <a:t>showAttendance() – </a:t>
            </a:r>
            <a:r>
              <a:rPr lang="en-IN" sz="2000" dirty="0">
                <a:latin typeface="Centaur" panose="02030504050205020304" pitchFamily="18" charset="0"/>
              </a:rPr>
              <a:t>Displays date-wise attendance records.</a:t>
            </a:r>
          </a:p>
          <a:p>
            <a:pPr lvl="0">
              <a:lnSpc>
                <a:spcPct val="100000"/>
              </a:lnSpc>
            </a:pPr>
            <a:endParaRPr lang="en-US" sz="2000" b="1" dirty="0">
              <a:latin typeface="Centaur" panose="02030504050205020304" pitchFamily="18" charset="0"/>
              <a:cs typeface="Times New Roman" panose="02020603050405020304" pitchFamily="18" charset="0"/>
            </a:endParaRPr>
          </a:p>
          <a:p>
            <a:pPr marL="8001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b="1" dirty="0">
              <a:latin typeface="Centaur" panose="020305040502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7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Modules / Functions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C385F6-6029-68FD-6896-CE7BA31133E3}"/>
              </a:ext>
            </a:extLst>
          </p:cNvPr>
          <p:cNvSpPr txBox="1"/>
          <p:nvPr/>
        </p:nvSpPr>
        <p:spPr>
          <a:xfrm>
            <a:off x="7001691" y="40059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DBCFCB-4C71-E674-4F7F-2E9CACE1C72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1251767"/>
            <a:ext cx="10515600" cy="502700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100" b="1" dirty="0">
                <a:latin typeface="Californian FB" panose="0207040306080B030204" pitchFamily="18" charset="0"/>
              </a:rPr>
              <a:t>Attendance Calculation Module</a:t>
            </a:r>
          </a:p>
          <a:p>
            <a:pPr marL="8001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900" b="1" dirty="0">
                <a:latin typeface="Californian FB" panose="0207040306080B030204" pitchFamily="18" charset="0"/>
              </a:rPr>
              <a:t>getPresentDays() – </a:t>
            </a:r>
            <a:r>
              <a:rPr lang="en-IN" sz="1900" dirty="0">
                <a:latin typeface="Centaur" panose="02030504050205020304" pitchFamily="18" charset="0"/>
              </a:rPr>
              <a:t>Calculates present days.</a:t>
            </a:r>
          </a:p>
          <a:p>
            <a:pPr marL="8001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900" b="1" dirty="0">
                <a:latin typeface="Californian FB" panose="0207040306080B030204" pitchFamily="18" charset="0"/>
              </a:rPr>
              <a:t>getAbsentDays() – </a:t>
            </a:r>
            <a:r>
              <a:rPr lang="en-IN" sz="1900" dirty="0">
                <a:latin typeface="Centaur" panose="02030504050205020304" pitchFamily="18" charset="0"/>
              </a:rPr>
              <a:t>Calculates absent days.</a:t>
            </a:r>
          </a:p>
          <a:p>
            <a:pPr marL="8001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900" b="1" dirty="0">
                <a:latin typeface="Californian FB" panose="0207040306080B030204" pitchFamily="18" charset="0"/>
              </a:rPr>
              <a:t>getPercentage() – </a:t>
            </a:r>
            <a:r>
              <a:rPr lang="en-IN" sz="1900" dirty="0">
                <a:latin typeface="Centaur" panose="02030504050205020304" pitchFamily="18" charset="0"/>
              </a:rPr>
              <a:t>Calculates attendance percentage.</a:t>
            </a:r>
          </a:p>
          <a:p>
            <a:pPr>
              <a:lnSpc>
                <a:spcPct val="100000"/>
              </a:lnSpc>
            </a:pPr>
            <a:r>
              <a:rPr lang="en-IN" sz="2100" b="1" dirty="0">
                <a:latin typeface="Californian FB" panose="0207040306080B030204" pitchFamily="18" charset="0"/>
              </a:rPr>
              <a:t>Summary Module</a:t>
            </a:r>
          </a:p>
          <a:p>
            <a:pPr marL="8001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900" b="1" dirty="0">
                <a:latin typeface="Californian FB" panose="0207040306080B030204" pitchFamily="18" charset="0"/>
              </a:rPr>
              <a:t>showAllSummaries() – </a:t>
            </a:r>
            <a:r>
              <a:rPr lang="en-IN" sz="1900" dirty="0">
                <a:latin typeface="Centaur" panose="02030504050205020304" pitchFamily="18" charset="0"/>
              </a:rPr>
              <a:t>Displays summaries of all students.</a:t>
            </a:r>
          </a:p>
          <a:p>
            <a:pPr marL="8001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900" b="1" dirty="0">
                <a:latin typeface="Californian FB" panose="0207040306080B030204" pitchFamily="18" charset="0"/>
              </a:rPr>
              <a:t>showSummary() – </a:t>
            </a:r>
            <a:r>
              <a:rPr lang="en-IN" sz="1900" dirty="0">
                <a:latin typeface="Centaur" panose="02030504050205020304" pitchFamily="18" charset="0"/>
              </a:rPr>
              <a:t>Displays one student's attendance summary.</a:t>
            </a:r>
          </a:p>
          <a:p>
            <a:pPr>
              <a:lnSpc>
                <a:spcPct val="100000"/>
              </a:lnSpc>
            </a:pPr>
            <a:r>
              <a:rPr lang="en-IN" sz="2100" b="1" dirty="0">
                <a:latin typeface="Californian FB" panose="0207040306080B030204" pitchFamily="18" charset="0"/>
              </a:rPr>
              <a:t>Low Attendance Module</a:t>
            </a:r>
          </a:p>
          <a:p>
            <a:pPr marL="8001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900" b="1" dirty="0">
                <a:latin typeface="Californian FB" panose="0207040306080B030204" pitchFamily="18" charset="0"/>
              </a:rPr>
              <a:t>showLowAttendance() – </a:t>
            </a:r>
            <a:r>
              <a:rPr lang="en-IN" sz="1900" dirty="0">
                <a:latin typeface="Centaur" panose="02030504050205020304" pitchFamily="18" charset="0"/>
              </a:rPr>
              <a:t>Displays students below 75% attendance.</a:t>
            </a:r>
          </a:p>
          <a:p>
            <a:pPr>
              <a:lnSpc>
                <a:spcPct val="100000"/>
              </a:lnSpc>
            </a:pPr>
            <a:r>
              <a:rPr lang="en-IN" sz="2100" b="1" dirty="0">
                <a:latin typeface="Californian FB" panose="0207040306080B030204" pitchFamily="18" charset="0"/>
              </a:rPr>
              <a:t>Main/Menu Module</a:t>
            </a:r>
          </a:p>
          <a:p>
            <a:pPr marL="8001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900" b="1" dirty="0">
                <a:latin typeface="Californian FB" panose="0207040306080B030204" pitchFamily="18" charset="0"/>
              </a:rPr>
              <a:t>main() – </a:t>
            </a:r>
            <a:r>
              <a:rPr lang="en-IN" sz="1900" dirty="0">
                <a:latin typeface="Centaur" panose="02030504050205020304" pitchFamily="18" charset="0"/>
              </a:rPr>
              <a:t>Controls the menu and overall program flow.</a:t>
            </a:r>
          </a:p>
          <a:p>
            <a:pPr lvl="0">
              <a:lnSpc>
                <a:spcPct val="100000"/>
              </a:lnSpc>
            </a:pPr>
            <a:endParaRPr lang="en-IN" sz="19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7591BD-3321-01DF-F767-36690237F894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C20F1802-9C65-458A-8FBF-F4B557FF234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00CC1-E764-164C-4276-444EEC546A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9F5DD-8FA4-EC95-455C-204EF997136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8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C0C17-1B3B-8803-FF05-414453F0EFF2}"/>
              </a:ext>
            </a:extLst>
          </p:cNvPr>
          <p:cNvSpPr txBox="1"/>
          <p:nvPr/>
        </p:nvSpPr>
        <p:spPr>
          <a:xfrm>
            <a:off x="1596000" y="433845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Modules / Functions</a:t>
            </a:r>
          </a:p>
        </p:txBody>
      </p:sp>
    </p:spTree>
    <p:extLst>
      <p:ext uri="{BB962C8B-B14F-4D97-AF65-F5344CB8AC3E}">
        <p14:creationId xmlns:p14="http://schemas.microsoft.com/office/powerpoint/2010/main" val="2223766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C234EE-CB32-748C-7447-180B85B9D18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1581887"/>
            <a:ext cx="10515600" cy="4683819"/>
          </a:xfrm>
        </p:spPr>
        <p:txBody>
          <a:bodyPr>
            <a:noAutofit/>
          </a:bodyPr>
          <a:lstStyle/>
          <a:p>
            <a:pPr marL="914400" lvl="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</a:rPr>
              <a:t>Developed using </a:t>
            </a:r>
            <a:r>
              <a:rPr lang="en-IN" sz="2300" b="1" dirty="0">
                <a:latin typeface="Centaur" panose="02030504050205020304" pitchFamily="18" charset="0"/>
              </a:rPr>
              <a:t>C++</a:t>
            </a:r>
            <a:r>
              <a:rPr lang="en-IN" sz="2300" dirty="0">
                <a:latin typeface="Centaur" panose="02030504050205020304" pitchFamily="18" charset="0"/>
              </a:rPr>
              <a:t>. </a:t>
            </a:r>
          </a:p>
          <a:p>
            <a:pPr marL="914400" lvl="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</a:rPr>
              <a:t>Uses a Student class to store student information. </a:t>
            </a:r>
          </a:p>
          <a:p>
            <a:pPr marL="914400" lvl="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</a:rPr>
              <a:t>Uses arrays to store multiple student objects and attendance records. </a:t>
            </a:r>
          </a:p>
          <a:p>
            <a:pPr marL="914400" lvl="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</a:rPr>
              <a:t>Maximum capacity: </a:t>
            </a:r>
          </a:p>
          <a:p>
            <a:pPr marL="12573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300" b="1" dirty="0">
                <a:latin typeface="Centaur" panose="02030504050205020304" pitchFamily="18" charset="0"/>
              </a:rPr>
              <a:t>50 students</a:t>
            </a:r>
            <a:r>
              <a:rPr lang="en-IN" sz="2300" dirty="0">
                <a:latin typeface="Centaur" panose="02030504050205020304" pitchFamily="18" charset="0"/>
              </a:rPr>
              <a:t> </a:t>
            </a:r>
          </a:p>
          <a:p>
            <a:pPr marL="12573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300" b="1" dirty="0">
                <a:latin typeface="Centaur" panose="02030504050205020304" pitchFamily="18" charset="0"/>
              </a:rPr>
              <a:t>30 attendance days per student</a:t>
            </a:r>
            <a:r>
              <a:rPr lang="en-IN" sz="2300" dirty="0">
                <a:latin typeface="Centaur" panose="02030504050205020304" pitchFamily="18" charset="0"/>
              </a:rPr>
              <a:t> </a:t>
            </a:r>
          </a:p>
          <a:p>
            <a:pPr marL="914400" lvl="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</a:rPr>
              <a:t>A menu-driven main() function controls the system. </a:t>
            </a:r>
          </a:p>
          <a:p>
            <a:pPr marL="914400" lvl="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</a:rPr>
              <a:t>Attendance status is validated as </a:t>
            </a:r>
            <a:r>
              <a:rPr lang="en-IN" sz="2300" b="1" dirty="0">
                <a:latin typeface="Centaur" panose="02030504050205020304" pitchFamily="18" charset="0"/>
              </a:rPr>
              <a:t>P/A</a:t>
            </a:r>
            <a:r>
              <a:rPr lang="en-IN" sz="2300" dirty="0">
                <a:latin typeface="Centaur" panose="02030504050205020304" pitchFamily="18" charset="0"/>
              </a:rPr>
              <a:t>. </a:t>
            </a:r>
          </a:p>
          <a:p>
            <a:pPr marL="914400" lvl="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</a:rPr>
              <a:t>toupper() is used to accept both uppercase and lowercase input.</a:t>
            </a:r>
          </a:p>
          <a:p>
            <a:pPr marL="9144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2300" dirty="0">
              <a:latin typeface="Centaur" panose="020305040502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73335-58B1-F188-1D1E-FF3E467EFC5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C20F1802-9C65-458A-8FBF-F4B557FF234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614846-4F08-E539-CCF0-1F88B40E13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429F3-889F-C4FF-C9BC-02A0DA9125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9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27300D-EE38-78BD-4993-1F28359B3839}"/>
              </a:ext>
            </a:extLst>
          </p:cNvPr>
          <p:cNvSpPr txBox="1"/>
          <p:nvPr/>
        </p:nvSpPr>
        <p:spPr>
          <a:xfrm>
            <a:off x="1596000" y="433845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127546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90C326-0E29-DF50-88DB-FA0C9161832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447800"/>
            <a:ext cx="10515600" cy="4645495"/>
          </a:xfrm>
        </p:spPr>
        <p:txBody>
          <a:bodyPr>
            <a:normAutofit/>
          </a:bodyPr>
          <a:lstStyle/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Californian FB" panose="0207040306080B030204" pitchFamily="18" charset="0"/>
                <a:cs typeface="Times New Roman" panose="02020603050405020304" pitchFamily="18" charset="0"/>
              </a:rPr>
              <a:t>Class and Objects</a:t>
            </a:r>
            <a:r>
              <a:rPr lang="en-IN" sz="2200" dirty="0">
                <a:latin typeface="Californian FB" panose="0207040306080B0302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Student class represents student details. </a:t>
            </a:r>
          </a:p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Californian FB" panose="0207040306080B030204" pitchFamily="18" charset="0"/>
                <a:cs typeface="Times New Roman" panose="02020603050405020304" pitchFamily="18" charset="0"/>
              </a:rPr>
              <a:t>Encapsulation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student data is kept private. </a:t>
            </a:r>
          </a:p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Californian FB" panose="0207040306080B030204" pitchFamily="18" charset="0"/>
                <a:cs typeface="Times New Roman" panose="02020603050405020304" pitchFamily="18" charset="0"/>
              </a:rPr>
              <a:t>Constructors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default and parameterized constructors are used.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Californian FB" panose="0207040306080B030204" pitchFamily="18" charset="0"/>
                <a:cs typeface="Times New Roman" panose="02020603050405020304" pitchFamily="18" charset="0"/>
              </a:rPr>
              <a:t>Destructor</a:t>
            </a:r>
            <a:r>
              <a:rPr lang="en-IN" sz="2300" dirty="0">
                <a:latin typeface="Californian FB" panose="0207040306080B0302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demonstrates object destruction. </a:t>
            </a:r>
          </a:p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Californian FB" panose="0207040306080B030204" pitchFamily="18" charset="0"/>
                <a:cs typeface="Times New Roman" panose="02020603050405020304" pitchFamily="18" charset="0"/>
              </a:rPr>
              <a:t>Static Data Member</a:t>
            </a:r>
            <a:r>
              <a:rPr lang="en-IN" sz="2200" dirty="0">
                <a:latin typeface="Californian FB" panose="0207040306080B0302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totalStudents is shared by all objects.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Californian FB" panose="0207040306080B030204" pitchFamily="18" charset="0"/>
                <a:cs typeface="Times New Roman" panose="02020603050405020304" pitchFamily="18" charset="0"/>
              </a:rPr>
              <a:t>Arrays</a:t>
            </a:r>
            <a:r>
              <a:rPr lang="en-IN" sz="2200" dirty="0">
                <a:latin typeface="Californian FB" panose="0207040306080B0302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store students, dates and attendance status. </a:t>
            </a:r>
          </a:p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Californian FB" panose="0207040306080B030204" pitchFamily="18" charset="0"/>
                <a:cs typeface="Times New Roman" panose="02020603050405020304" pitchFamily="18" charset="0"/>
              </a:rPr>
              <a:t>Functions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divide the system into manageable tasks. </a:t>
            </a:r>
          </a:p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Californian FB" panose="0207040306080B030204" pitchFamily="18" charset="0"/>
                <a:cs typeface="Times New Roman" panose="02020603050405020304" pitchFamily="18" charset="0"/>
              </a:rPr>
              <a:t>Conditional Statements</a:t>
            </a:r>
            <a:r>
              <a:rPr lang="en-IN" sz="2200" dirty="0">
                <a:latin typeface="Californian FB" panose="0207040306080B0302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validate choices and attendance.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Californian FB" panose="0207040306080B030204" pitchFamily="18" charset="0"/>
                <a:cs typeface="Times New Roman" panose="02020603050405020304" pitchFamily="18" charset="0"/>
              </a:rPr>
              <a:t>Loops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process students and attendance records. </a:t>
            </a:r>
          </a:p>
          <a:p>
            <a:pPr marL="8001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Californian FB" panose="0207040306080B030204" pitchFamily="18" charset="0"/>
                <a:cs typeface="Times New Roman" panose="02020603050405020304" pitchFamily="18" charset="0"/>
              </a:rPr>
              <a:t>Strings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store names and dates.</a:t>
            </a:r>
          </a:p>
          <a:p>
            <a:pPr marL="800100" indent="-3429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078DD3-D1D7-55C5-A1B3-3935096A2469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C20F1802-9C65-458A-8FBF-F4B557FF234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AFFB4-9358-8306-0CFD-B835118A0D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BE659-84A9-DF1B-0A28-BD91AFD2CF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10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9A57D0-D1BC-A01D-B5F5-176B22C23155}"/>
              </a:ext>
            </a:extLst>
          </p:cNvPr>
          <p:cNvSpPr txBox="1"/>
          <p:nvPr/>
        </p:nvSpPr>
        <p:spPr>
          <a:xfrm>
            <a:off x="1596000" y="433845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C++ Concepts Used</a:t>
            </a:r>
          </a:p>
        </p:txBody>
      </p:sp>
    </p:spTree>
    <p:extLst>
      <p:ext uri="{BB962C8B-B14F-4D97-AF65-F5344CB8AC3E}">
        <p14:creationId xmlns:p14="http://schemas.microsoft.com/office/powerpoint/2010/main" val="337734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538CC1-5D42-1028-6717-5E49AC8A64D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730234" y="1066800"/>
            <a:ext cx="10515600" cy="5029200"/>
          </a:xfrm>
        </p:spPr>
        <p:txBody>
          <a:bodyPr>
            <a:noAutofit/>
          </a:bodyPr>
          <a:lstStyle/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entaur" panose="02030504050205020304" pitchFamily="18" charset="0"/>
                <a:cs typeface="Times New Roman" panose="02020603050405020304" pitchFamily="18" charset="0"/>
              </a:rPr>
              <a:t>Student roll number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entaur" panose="02030504050205020304" pitchFamily="18" charset="0"/>
                <a:cs typeface="Times New Roman" panose="02020603050405020304" pitchFamily="18" charset="0"/>
              </a:rPr>
              <a:t>Student name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entaur" panose="02030504050205020304" pitchFamily="18" charset="0"/>
                <a:cs typeface="Times New Roman" panose="02020603050405020304" pitchFamily="18" charset="0"/>
              </a:rPr>
              <a:t>Attendance date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entaur" panose="02030504050205020304" pitchFamily="18" charset="0"/>
                <a:cs typeface="Times New Roman" panose="02020603050405020304" pitchFamily="18" charset="0"/>
              </a:rPr>
              <a:t>Attendance status: </a:t>
            </a:r>
          </a:p>
          <a:p>
            <a:pPr marL="12573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entaur" panose="02030504050205020304" pitchFamily="18" charset="0"/>
                <a:cs typeface="Times New Roman" panose="02020603050405020304" pitchFamily="18" charset="0"/>
              </a:rPr>
              <a:t>P – Present </a:t>
            </a:r>
          </a:p>
          <a:p>
            <a:pPr marL="12573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entaur" panose="02030504050205020304" pitchFamily="18" charset="0"/>
                <a:cs typeface="Times New Roman" panose="02020603050405020304" pitchFamily="18" charset="0"/>
              </a:rPr>
              <a:t>A – Absent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entaur" panose="02030504050205020304" pitchFamily="18" charset="0"/>
                <a:cs typeface="Times New Roman" panose="02020603050405020304" pitchFamily="18" charset="0"/>
              </a:rPr>
              <a:t>Menu choice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entaur" panose="02030504050205020304" pitchFamily="18" charset="0"/>
                <a:cs typeface="Times New Roman" panose="02020603050405020304" pitchFamily="18" charset="0"/>
              </a:rPr>
              <a:t>Roll number for searching</a:t>
            </a:r>
          </a:p>
          <a:p>
            <a:pPr marL="8001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>
              <a:latin typeface="Centaur" panose="020305040502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C4BF0D-AB5B-2046-A48E-58D18406DC14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C20F1802-9C65-458A-8FBF-F4B557FF234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2DD385-AF96-20F0-9BAD-1E88E6F564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9EE7F-FE58-CBB9-14CD-FEA7C685A7C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11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3657C-8B64-9C0C-B750-E84C3F69528A}"/>
              </a:ext>
            </a:extLst>
          </p:cNvPr>
          <p:cNvSpPr txBox="1"/>
          <p:nvPr/>
        </p:nvSpPr>
        <p:spPr>
          <a:xfrm>
            <a:off x="1596000" y="433845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Inputs</a:t>
            </a:r>
          </a:p>
        </p:txBody>
      </p:sp>
    </p:spTree>
    <p:extLst>
      <p:ext uri="{BB962C8B-B14F-4D97-AF65-F5344CB8AC3E}">
        <p14:creationId xmlns:p14="http://schemas.microsoft.com/office/powerpoint/2010/main" val="2610347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DCCC1D-766A-628F-C21B-FC4806D97D5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95400" y="990600"/>
            <a:ext cx="7458000" cy="5029200"/>
          </a:xfrm>
        </p:spPr>
        <p:txBody>
          <a:bodyPr>
            <a:noAutofit/>
          </a:bodyPr>
          <a:lstStyle/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entaur" panose="02030504050205020304" pitchFamily="18" charset="0"/>
                <a:cs typeface="Times New Roman" panose="02020603050405020304" pitchFamily="18" charset="0"/>
              </a:rPr>
              <a:t>Successful student registration message.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entaur" panose="02030504050205020304" pitchFamily="18" charset="0"/>
                <a:cs typeface="Times New Roman" panose="02020603050405020304" pitchFamily="18" charset="0"/>
              </a:rPr>
              <a:t>Successful attendance marking message.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entaur" panose="02030504050205020304" pitchFamily="18" charset="0"/>
                <a:cs typeface="Times New Roman" panose="02020603050405020304" pitchFamily="18" charset="0"/>
              </a:rPr>
              <a:t>Date-wise attendance record.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entaur" panose="02030504050205020304" pitchFamily="18" charset="0"/>
                <a:cs typeface="Times New Roman" panose="02020603050405020304" pitchFamily="18" charset="0"/>
              </a:rPr>
              <a:t>Student attendance percentage.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entaur" panose="02030504050205020304" pitchFamily="18" charset="0"/>
                <a:cs typeface="Times New Roman" panose="02020603050405020304" pitchFamily="18" charset="0"/>
              </a:rPr>
              <a:t>Present and absent day counts.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entaur" panose="02030504050205020304" pitchFamily="18" charset="0"/>
                <a:cs typeface="Times New Roman" panose="02020603050405020304" pitchFamily="18" charset="0"/>
              </a:rPr>
              <a:t>List of students below 75% attendance.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entaur" panose="02030504050205020304" pitchFamily="18" charset="0"/>
                <a:cs typeface="Times New Roman" panose="02020603050405020304" pitchFamily="18" charset="0"/>
              </a:rPr>
              <a:t>Total number of students.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Centaur" panose="02030504050205020304" pitchFamily="18" charset="0"/>
                <a:cs typeface="Times New Roman" panose="02020603050405020304" pitchFamily="18" charset="0"/>
              </a:rPr>
              <a:t>Appropriate validation messages for duplicate or invalid inputs.</a:t>
            </a:r>
          </a:p>
          <a:p>
            <a:pPr marL="8001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>
              <a:latin typeface="Centaur" panose="020305040502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605870-9FA6-D77B-4C01-F86F47BB53F7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C20F1802-9C65-458A-8FBF-F4B557FF234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316F05-5E77-A8FD-ED6F-C97493BAC7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dirty="0"/>
              <a:t>PBL Course Name: Object Oriented Programming through C++(2501CS08)    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4C784-BF06-CA8F-EC36-1144B966C9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12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5CB060-CC31-C38C-B4C9-3E259D095D40}"/>
              </a:ext>
            </a:extLst>
          </p:cNvPr>
          <p:cNvSpPr txBox="1"/>
          <p:nvPr/>
        </p:nvSpPr>
        <p:spPr>
          <a:xfrm>
            <a:off x="1596000" y="455069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Expected Outputs</a:t>
            </a:r>
          </a:p>
        </p:txBody>
      </p:sp>
    </p:spTree>
    <p:extLst>
      <p:ext uri="{BB962C8B-B14F-4D97-AF65-F5344CB8AC3E}">
        <p14:creationId xmlns:p14="http://schemas.microsoft.com/office/powerpoint/2010/main" val="71436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CE5EA8-7200-E4F1-5D04-0D0EAB2DCF97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C20F1802-9C65-458A-8FBF-F4B557FF234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CDDB3-33FF-DD30-2E64-F8F773D2E4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9D976-EA2D-D5F1-7D6E-237149D9CB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13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490139-9978-0430-3E30-859A38B12482}"/>
              </a:ext>
            </a:extLst>
          </p:cNvPr>
          <p:cNvSpPr txBox="1"/>
          <p:nvPr/>
        </p:nvSpPr>
        <p:spPr>
          <a:xfrm>
            <a:off x="457200" y="433845"/>
            <a:ext cx="102108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Flowchart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4929A7-84A7-82EE-0B0E-42F9AEC26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683" y="1066800"/>
            <a:ext cx="6106617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854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14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Team Contribution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396036"/>
              </p:ext>
            </p:extLst>
          </p:nvPr>
        </p:nvGraphicFramePr>
        <p:xfrm>
          <a:off x="1314832" y="1828800"/>
          <a:ext cx="9418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fornian FB" panose="0207040306080B0302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  <a:latin typeface="Californian FB" panose="0207040306080B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  <a:latin typeface="Californian FB" panose="0207040306080B030204" pitchFamily="18" charset="0"/>
                          <a:cs typeface="Times New Roman" panose="02020603050405020304" pitchFamily="18" charset="0"/>
                        </a:rPr>
                        <a:t>Role / Responsibility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chemeClr val="tx1"/>
                          </a:solidFill>
                          <a:latin typeface="Centaur" panose="02030504050205020304" pitchFamily="18" charset="0"/>
                          <a:cs typeface="Times New Roman" panose="02020603050405020304" pitchFamily="18" charset="0"/>
                        </a:rPr>
                        <a:t>25B11AI860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entaur" panose="02030504050205020304" pitchFamily="18" charset="0"/>
                          <a:cs typeface="Times New Roman" panose="02020603050405020304" pitchFamily="18" charset="0"/>
                        </a:rPr>
                        <a:t>ORSU LEELA BHARANI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chemeClr val="tx1"/>
                          </a:solidFill>
                          <a:latin typeface="Centaur" panose="02030504050205020304" pitchFamily="18" charset="0"/>
                          <a:cs typeface="Times New Roman" panose="02020603050405020304" pitchFamily="18" charset="0"/>
                        </a:rPr>
                        <a:t>Class design, Student &amp; Attendance modules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chemeClr val="tx1"/>
                          </a:solidFill>
                          <a:latin typeface="Centaur" panose="02030504050205020304" pitchFamily="18" charset="0"/>
                          <a:cs typeface="Times New Roman" panose="02020603050405020304" pitchFamily="18" charset="0"/>
                        </a:rPr>
                        <a:t>25B11AI131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entaur" panose="02030504050205020304" pitchFamily="18" charset="0"/>
                          <a:cs typeface="Times New Roman" panose="02020603050405020304" pitchFamily="18" charset="0"/>
                        </a:rPr>
                        <a:t>BATHULA N S L DURGA RISHITHA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chemeClr val="tx1"/>
                          </a:solidFill>
                          <a:latin typeface="Centaur" panose="02030504050205020304" pitchFamily="18" charset="0"/>
                          <a:cs typeface="Times New Roman" panose="02020603050405020304" pitchFamily="18" charset="0"/>
                        </a:rPr>
                        <a:t>Coding – core functions &amp; validation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chemeClr val="tx1"/>
                          </a:solidFill>
                          <a:latin typeface="Centaur" panose="02030504050205020304" pitchFamily="18" charset="0"/>
                          <a:cs typeface="Times New Roman" panose="02020603050405020304" pitchFamily="18" charset="0"/>
                        </a:rPr>
                        <a:t>25B11AI357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entaur" panose="02030504050205020304" pitchFamily="18" charset="0"/>
                          <a:cs typeface="Times New Roman" panose="02020603050405020304" pitchFamily="18" charset="0"/>
                        </a:rPr>
                        <a:t>GONDYALA SRIRAM PRAKHYATH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chemeClr val="tx1"/>
                          </a:solidFill>
                          <a:latin typeface="Centaur" panose="02030504050205020304" pitchFamily="18" charset="0"/>
                          <a:cs typeface="Times New Roman" panose="02020603050405020304" pitchFamily="18" charset="0"/>
                        </a:rPr>
                        <a:t>Testing, debugging &amp; attendance calculations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chemeClr val="tx1"/>
                          </a:solidFill>
                          <a:latin typeface="Centaur" panose="02030504050205020304" pitchFamily="18" charset="0"/>
                          <a:cs typeface="Times New Roman" panose="02020603050405020304" pitchFamily="18" charset="0"/>
                        </a:rPr>
                        <a:t>26B21AI027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entaur" panose="02030504050205020304" pitchFamily="18" charset="0"/>
                          <a:cs typeface="Times New Roman" panose="02020603050405020304" pitchFamily="18" charset="0"/>
                        </a:rPr>
                        <a:t>ELUBANDI MANIKANTA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chemeClr val="tx1"/>
                          </a:solidFill>
                          <a:latin typeface="Centaur" panose="02030504050205020304" pitchFamily="18" charset="0"/>
                          <a:cs typeface="Times New Roman" panose="02020603050405020304" pitchFamily="18" charset="0"/>
                        </a:rPr>
                        <a:t>Documentation &amp; presentation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065DF6-1013-BD08-74E1-3D7FDF94EB2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95400" y="1447800"/>
            <a:ext cx="10515600" cy="2781524"/>
          </a:xfrm>
        </p:spPr>
        <p:txBody>
          <a:bodyPr>
            <a:noAutofit/>
          </a:bodyPr>
          <a:lstStyle/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The Student Attendance Management System simplifies attendance management.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It reduces manual calculation and record-keeping effort.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The system provides quick access to attendance information.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Automatic percentage calculation helps identify low-attendance students.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The project demonstrates practical implementation of C++ OOP concepts.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It can be further extended with file storage, database connectivity and a graphical interface.</a:t>
            </a:r>
          </a:p>
          <a:p>
            <a:pPr marL="8001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8A3059-92CC-651A-31E5-2BAB598012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C20F1802-9C65-458A-8FBF-F4B557FF234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B3BF6B-F8ED-6FE9-2553-DF2EF1BC59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8D4F5-D758-A787-78AF-1248EAD161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15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399D70-11D5-7026-A370-69C806323629}"/>
              </a:ext>
            </a:extLst>
          </p:cNvPr>
          <p:cNvSpPr txBox="1"/>
          <p:nvPr/>
        </p:nvSpPr>
        <p:spPr>
          <a:xfrm>
            <a:off x="1596000" y="433845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888761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EFE271-F2D3-CB66-E142-297D5332533A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>
            <a:normAutofit/>
          </a:bodyPr>
          <a:lstStyle/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C++ programming concepts and Object-Oriented Programming course material.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C++ Standard Library documentation.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Class, object, constructor and destructor concepts.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Arrays, strings, functions and control statements in C++. </a:t>
            </a:r>
          </a:p>
          <a:p>
            <a:pPr marL="8001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Centaur" panose="02030504050205020304" pitchFamily="18" charset="0"/>
                <a:cs typeface="Times New Roman" panose="02020603050405020304" pitchFamily="18" charset="0"/>
              </a:rPr>
              <a:t>Project source code and implementation developed for the PBL project.</a:t>
            </a:r>
          </a:p>
          <a:p>
            <a:pPr marL="8001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300" dirty="0">
              <a:latin typeface="Centaur" panose="020305040502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D8365-BEF6-B721-FE8F-7DE05B8EC64B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C20F1802-9C65-458A-8FBF-F4B557FF2340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21FA3-9FC2-80D6-87D3-92D3384DBE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2EFA2-6697-6C6F-9838-859B6C122F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16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CDA285-5590-939E-EAA1-5B31F60B897C}"/>
              </a:ext>
            </a:extLst>
          </p:cNvPr>
          <p:cNvSpPr txBox="1"/>
          <p:nvPr/>
        </p:nvSpPr>
        <p:spPr>
          <a:xfrm>
            <a:off x="1596000" y="433845"/>
            <a:ext cx="9000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150898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A2974D-1CE7-ADEF-CAF2-8E40A4E9ACE3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109886"/>
            <a:ext cx="9525000" cy="5367114"/>
          </a:xfr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14BADD-841F-98DA-7B1A-166F39B295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C0285F-93AB-F1ED-9404-7BA7181450BB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3383F8C5-9DCC-4575-9E47-831DF7A3DFC7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A9194-EE25-3196-F348-A230F71DC1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3968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</TotalTime>
  <Words>1093</Words>
  <Application>Microsoft Office PowerPoint</Application>
  <PresentationFormat>Widescreen</PresentationFormat>
  <Paragraphs>203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Californian FB</vt:lpstr>
      <vt:lpstr>Calibri Light</vt:lpstr>
      <vt:lpstr>Times New Roman</vt:lpstr>
      <vt:lpstr>Maiandra GD</vt:lpstr>
      <vt:lpstr>Wingdings</vt:lpstr>
      <vt:lpstr>Arial Rounded MT Bold</vt:lpstr>
      <vt:lpstr>Arial</vt:lpstr>
      <vt:lpstr>Centaur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Srisuswar Makarla</dc:creator>
  <cp:lastModifiedBy>mudavathu mahesh</cp:lastModifiedBy>
  <cp:revision>106</cp:revision>
  <cp:lastPrinted>2025-09-02T05:24:44Z</cp:lastPrinted>
  <dcterms:created xsi:type="dcterms:W3CDTF">2025-05-29T13:02:32Z</dcterms:created>
  <dcterms:modified xsi:type="dcterms:W3CDTF">2026-09-28T15:39:12Z</dcterms:modified>
</cp:coreProperties>
</file>